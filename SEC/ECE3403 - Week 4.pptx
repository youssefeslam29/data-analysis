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y="5143500" cx="9144000"/>
  <p:notesSz cx="6858000" cy="9144000"/>
  <p:embeddedFontLst>
    <p:embeddedFont>
      <p:font typeface="Inter"/>
      <p:regular r:id="rId82"/>
      <p:bold r:id="rId83"/>
      <p:italic r:id="rId84"/>
      <p:boldItalic r:id="rId85"/>
    </p:embeddedFont>
    <p:embeddedFont>
      <p:font typeface="Passion One"/>
      <p:regular r:id="rId86"/>
      <p:bold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8" roundtripDataSignature="AMtx7mh73ae6DE/49zXgV6UM7zo011O2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C3741F-BB2F-4768-A211-A80B8B564F9D}">
  <a:tblStyle styleId="{7DC3741F-BB2F-4768-A211-A80B8B564F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Inter-italic.fntdata"/><Relationship Id="rId83" Type="http://schemas.openxmlformats.org/officeDocument/2006/relationships/font" Target="fonts/Inter-bold.fntdata"/><Relationship Id="rId42" Type="http://schemas.openxmlformats.org/officeDocument/2006/relationships/slide" Target="slides/slide37.xml"/><Relationship Id="rId86" Type="http://schemas.openxmlformats.org/officeDocument/2006/relationships/font" Target="fonts/PassionOne-regular.fntdata"/><Relationship Id="rId41" Type="http://schemas.openxmlformats.org/officeDocument/2006/relationships/slide" Target="slides/slide36.xml"/><Relationship Id="rId85" Type="http://schemas.openxmlformats.org/officeDocument/2006/relationships/font" Target="fonts/Inter-boldItalic.fntdata"/><Relationship Id="rId44" Type="http://schemas.openxmlformats.org/officeDocument/2006/relationships/slide" Target="slides/slide39.xml"/><Relationship Id="rId88" Type="http://customschemas.google.com/relationships/presentationmetadata" Target="metadata"/><Relationship Id="rId43" Type="http://schemas.openxmlformats.org/officeDocument/2006/relationships/slide" Target="slides/slide38.xml"/><Relationship Id="rId87" Type="http://schemas.openxmlformats.org/officeDocument/2006/relationships/font" Target="fonts/PassionOne-bold.fntdata"/><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font" Target="fonts/Inter-regular.fntdata"/><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6" name="Google Shape;76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4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7" name="Google Shape;837;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5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5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5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5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5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6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6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6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8" name="Google Shape;968;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6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6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6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6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6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6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7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7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7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7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78"/>
          <p:cNvSpPr/>
          <p:nvPr/>
        </p:nvSpPr>
        <p:spPr>
          <a:xfrm>
            <a:off x="-1545187" y="2539113"/>
            <a:ext cx="2909077" cy="290907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 name="Google Shape;10;p78"/>
          <p:cNvSpPr/>
          <p:nvPr/>
        </p:nvSpPr>
        <p:spPr>
          <a:xfrm>
            <a:off x="7073900" y="4334213"/>
            <a:ext cx="2909077" cy="290907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 name="Google Shape;11;p78"/>
          <p:cNvSpPr/>
          <p:nvPr/>
        </p:nvSpPr>
        <p:spPr>
          <a:xfrm>
            <a:off x="-90650" y="-73963"/>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 name="Google Shape;12;p78"/>
          <p:cNvSpPr/>
          <p:nvPr/>
        </p:nvSpPr>
        <p:spPr>
          <a:xfrm>
            <a:off x="8488469" y="99066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 name="Google Shape;13;p78"/>
          <p:cNvSpPr/>
          <p:nvPr/>
        </p:nvSpPr>
        <p:spPr>
          <a:xfrm>
            <a:off x="431847" y="3177967"/>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 name="Google Shape;14;p78"/>
          <p:cNvSpPr/>
          <p:nvPr/>
        </p:nvSpPr>
        <p:spPr>
          <a:xfrm rot="-2700000">
            <a:off x="8734960" y="3420957"/>
            <a:ext cx="137292" cy="137292"/>
          </a:xfrm>
          <a:custGeom>
            <a:rect b="b" l="l" r="r" t="t"/>
            <a:pathLst>
              <a:path extrusionOk="0" h="171066" w="171066">
                <a:moveTo>
                  <a:pt x="0" y="0"/>
                </a:moveTo>
                <a:lnTo>
                  <a:pt x="171066" y="0"/>
                </a:lnTo>
                <a:lnTo>
                  <a:pt x="171066" y="171066"/>
                </a:lnTo>
                <a:lnTo>
                  <a:pt x="0" y="171066"/>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 name="Google Shape;15;p78"/>
          <p:cNvSpPr/>
          <p:nvPr/>
        </p:nvSpPr>
        <p:spPr>
          <a:xfrm rot="-2700000">
            <a:off x="8734956" y="470861"/>
            <a:ext cx="137292" cy="137292"/>
          </a:xfrm>
          <a:custGeom>
            <a:rect b="b" l="l" r="r" t="t"/>
            <a:pathLst>
              <a:path extrusionOk="0" h="171066" w="171066">
                <a:moveTo>
                  <a:pt x="0" y="0"/>
                </a:moveTo>
                <a:lnTo>
                  <a:pt x="171066" y="0"/>
                </a:lnTo>
                <a:lnTo>
                  <a:pt x="171066" y="171066"/>
                </a:lnTo>
                <a:lnTo>
                  <a:pt x="0" y="171066"/>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 name="Google Shape;16;p78"/>
          <p:cNvSpPr/>
          <p:nvPr/>
        </p:nvSpPr>
        <p:spPr>
          <a:xfrm rot="-2700000">
            <a:off x="3258027" y="294804"/>
            <a:ext cx="137292" cy="137292"/>
          </a:xfrm>
          <a:custGeom>
            <a:rect b="b" l="l" r="r" t="t"/>
            <a:pathLst>
              <a:path extrusionOk="0" h="171066" w="171066">
                <a:moveTo>
                  <a:pt x="0" y="0"/>
                </a:moveTo>
                <a:lnTo>
                  <a:pt x="171066" y="0"/>
                </a:lnTo>
                <a:lnTo>
                  <a:pt x="171066" y="171066"/>
                </a:lnTo>
                <a:lnTo>
                  <a:pt x="0" y="17106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 name="Google Shape;17;p78"/>
          <p:cNvSpPr/>
          <p:nvPr/>
        </p:nvSpPr>
        <p:spPr>
          <a:xfrm rot="-2700000">
            <a:off x="2091794" y="4654300"/>
            <a:ext cx="137292" cy="137292"/>
          </a:xfrm>
          <a:custGeom>
            <a:rect b="b" l="l" r="r" t="t"/>
            <a:pathLst>
              <a:path extrusionOk="0" h="171066" w="171066">
                <a:moveTo>
                  <a:pt x="0" y="0"/>
                </a:moveTo>
                <a:lnTo>
                  <a:pt x="171066" y="0"/>
                </a:lnTo>
                <a:lnTo>
                  <a:pt x="171066" y="171066"/>
                </a:lnTo>
                <a:lnTo>
                  <a:pt x="0" y="171066"/>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 name="Google Shape;18;p78"/>
          <p:cNvSpPr/>
          <p:nvPr/>
        </p:nvSpPr>
        <p:spPr>
          <a:xfrm rot="-2700000">
            <a:off x="266135" y="1894497"/>
            <a:ext cx="137292" cy="137292"/>
          </a:xfrm>
          <a:custGeom>
            <a:rect b="b" l="l" r="r" t="t"/>
            <a:pathLst>
              <a:path extrusionOk="0" h="171066" w="171066">
                <a:moveTo>
                  <a:pt x="0" y="0"/>
                </a:moveTo>
                <a:lnTo>
                  <a:pt x="171066" y="0"/>
                </a:lnTo>
                <a:lnTo>
                  <a:pt x="171066" y="171066"/>
                </a:lnTo>
                <a:lnTo>
                  <a:pt x="0" y="17106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 name="Google Shape;19;p78"/>
          <p:cNvSpPr/>
          <p:nvPr/>
        </p:nvSpPr>
        <p:spPr>
          <a:xfrm>
            <a:off x="6495722" y="171242"/>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 name="Google Shape;20;p78"/>
          <p:cNvSpPr/>
          <p:nvPr/>
        </p:nvSpPr>
        <p:spPr>
          <a:xfrm>
            <a:off x="5548472" y="4814317"/>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 name="Google Shape;21;p78"/>
          <p:cNvSpPr txBox="1"/>
          <p:nvPr>
            <p:ph type="ctrTitle"/>
          </p:nvPr>
        </p:nvSpPr>
        <p:spPr>
          <a:xfrm>
            <a:off x="1814850" y="1577788"/>
            <a:ext cx="5514300" cy="17439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Clr>
                <a:srgbClr val="191919"/>
              </a:buClr>
              <a:buSzPts val="5200"/>
              <a:buNone/>
              <a:defRPr sz="64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2" name="Google Shape;22;p78"/>
          <p:cNvSpPr txBox="1"/>
          <p:nvPr>
            <p:ph idx="1" type="subTitle"/>
          </p:nvPr>
        </p:nvSpPr>
        <p:spPr>
          <a:xfrm>
            <a:off x="2430150" y="3547500"/>
            <a:ext cx="4283700" cy="4500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3" name="Google Shape;23;p78"/>
          <p:cNvSpPr txBox="1"/>
          <p:nvPr>
            <p:ph idx="2" type="ctrTitle"/>
          </p:nvPr>
        </p:nvSpPr>
        <p:spPr>
          <a:xfrm>
            <a:off x="6938575" y="552675"/>
            <a:ext cx="1492200" cy="4500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191919"/>
              </a:buClr>
              <a:buSzPts val="1800"/>
              <a:buNone/>
              <a:defRPr sz="2400"/>
            </a:lvl1pPr>
            <a:lvl2pPr lvl="1" algn="ctr">
              <a:lnSpc>
                <a:spcPct val="100000"/>
              </a:lnSpc>
              <a:spcBef>
                <a:spcPts val="0"/>
              </a:spcBef>
              <a:spcAft>
                <a:spcPts val="0"/>
              </a:spcAft>
              <a:buClr>
                <a:srgbClr val="191919"/>
              </a:buClr>
              <a:buSzPts val="1800"/>
              <a:buNone/>
              <a:defRPr sz="1800">
                <a:solidFill>
                  <a:srgbClr val="191919"/>
                </a:solidFill>
              </a:defRPr>
            </a:lvl2pPr>
            <a:lvl3pPr lvl="2" algn="ctr">
              <a:lnSpc>
                <a:spcPct val="100000"/>
              </a:lnSpc>
              <a:spcBef>
                <a:spcPts val="0"/>
              </a:spcBef>
              <a:spcAft>
                <a:spcPts val="0"/>
              </a:spcAft>
              <a:buClr>
                <a:srgbClr val="191919"/>
              </a:buClr>
              <a:buSzPts val="1800"/>
              <a:buNone/>
              <a:defRPr sz="1800">
                <a:solidFill>
                  <a:srgbClr val="191919"/>
                </a:solidFill>
              </a:defRPr>
            </a:lvl3pPr>
            <a:lvl4pPr lvl="3" algn="ctr">
              <a:lnSpc>
                <a:spcPct val="100000"/>
              </a:lnSpc>
              <a:spcBef>
                <a:spcPts val="0"/>
              </a:spcBef>
              <a:spcAft>
                <a:spcPts val="0"/>
              </a:spcAft>
              <a:buClr>
                <a:srgbClr val="191919"/>
              </a:buClr>
              <a:buSzPts val="1800"/>
              <a:buNone/>
              <a:defRPr sz="1800">
                <a:solidFill>
                  <a:srgbClr val="191919"/>
                </a:solidFill>
              </a:defRPr>
            </a:lvl4pPr>
            <a:lvl5pPr lvl="4" algn="ctr">
              <a:lnSpc>
                <a:spcPct val="100000"/>
              </a:lnSpc>
              <a:spcBef>
                <a:spcPts val="0"/>
              </a:spcBef>
              <a:spcAft>
                <a:spcPts val="0"/>
              </a:spcAft>
              <a:buClr>
                <a:srgbClr val="191919"/>
              </a:buClr>
              <a:buSzPts val="1800"/>
              <a:buNone/>
              <a:defRPr sz="1800">
                <a:solidFill>
                  <a:srgbClr val="191919"/>
                </a:solidFill>
              </a:defRPr>
            </a:lvl5pPr>
            <a:lvl6pPr lvl="5" algn="ctr">
              <a:lnSpc>
                <a:spcPct val="100000"/>
              </a:lnSpc>
              <a:spcBef>
                <a:spcPts val="0"/>
              </a:spcBef>
              <a:spcAft>
                <a:spcPts val="0"/>
              </a:spcAft>
              <a:buClr>
                <a:srgbClr val="191919"/>
              </a:buClr>
              <a:buSzPts val="1800"/>
              <a:buNone/>
              <a:defRPr sz="1800">
                <a:solidFill>
                  <a:srgbClr val="191919"/>
                </a:solidFill>
              </a:defRPr>
            </a:lvl6pPr>
            <a:lvl7pPr lvl="6" algn="ctr">
              <a:lnSpc>
                <a:spcPct val="100000"/>
              </a:lnSpc>
              <a:spcBef>
                <a:spcPts val="0"/>
              </a:spcBef>
              <a:spcAft>
                <a:spcPts val="0"/>
              </a:spcAft>
              <a:buClr>
                <a:srgbClr val="191919"/>
              </a:buClr>
              <a:buSzPts val="1800"/>
              <a:buNone/>
              <a:defRPr sz="1800">
                <a:solidFill>
                  <a:srgbClr val="191919"/>
                </a:solidFill>
              </a:defRPr>
            </a:lvl7pPr>
            <a:lvl8pPr lvl="7" algn="ctr">
              <a:lnSpc>
                <a:spcPct val="100000"/>
              </a:lnSpc>
              <a:spcBef>
                <a:spcPts val="0"/>
              </a:spcBef>
              <a:spcAft>
                <a:spcPts val="0"/>
              </a:spcAft>
              <a:buClr>
                <a:srgbClr val="191919"/>
              </a:buClr>
              <a:buSzPts val="1800"/>
              <a:buNone/>
              <a:defRPr sz="1800">
                <a:solidFill>
                  <a:srgbClr val="191919"/>
                </a:solidFill>
              </a:defRPr>
            </a:lvl8pPr>
            <a:lvl9pPr lvl="8" algn="ctr">
              <a:lnSpc>
                <a:spcPct val="100000"/>
              </a:lnSpc>
              <a:spcBef>
                <a:spcPts val="0"/>
              </a:spcBef>
              <a:spcAft>
                <a:spcPts val="0"/>
              </a:spcAft>
              <a:buClr>
                <a:srgbClr val="191919"/>
              </a:buClr>
              <a:buSzPts val="1800"/>
              <a:buNone/>
              <a:defRPr sz="1800">
                <a:solidFill>
                  <a:srgbClr val="191919"/>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 name="Shape 24"/>
        <p:cNvGrpSpPr/>
        <p:nvPr/>
      </p:nvGrpSpPr>
      <p:grpSpPr>
        <a:xfrm>
          <a:off x="0" y="0"/>
          <a:ext cx="0" cy="0"/>
          <a:chOff x="0" y="0"/>
          <a:chExt cx="0" cy="0"/>
        </a:xfrm>
      </p:grpSpPr>
      <p:sp>
        <p:nvSpPr>
          <p:cNvPr id="25" name="Google Shape;25;p79"/>
          <p:cNvSpPr txBox="1"/>
          <p:nvPr>
            <p:ph idx="1" type="subTitle"/>
          </p:nvPr>
        </p:nvSpPr>
        <p:spPr>
          <a:xfrm>
            <a:off x="720075" y="1229900"/>
            <a:ext cx="4149300" cy="267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7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7" name="Google Shape;27;p79"/>
          <p:cNvSpPr txBox="1"/>
          <p:nvPr>
            <p:ph idx="2" type="subTitle"/>
          </p:nvPr>
        </p:nvSpPr>
        <p:spPr>
          <a:xfrm>
            <a:off x="5258200" y="1229900"/>
            <a:ext cx="3165900" cy="3374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9"/>
          <p:cNvSpPr/>
          <p:nvPr/>
        </p:nvSpPr>
        <p:spPr>
          <a:xfrm>
            <a:off x="-1066000" y="4148624"/>
            <a:ext cx="2318705" cy="2318705"/>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 name="Google Shape;29;p79"/>
          <p:cNvSpPr/>
          <p:nvPr/>
        </p:nvSpPr>
        <p:spPr>
          <a:xfrm rot="-2700000">
            <a:off x="8725469" y="453535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 name="Google Shape;30;p79"/>
          <p:cNvSpPr/>
          <p:nvPr/>
        </p:nvSpPr>
        <p:spPr>
          <a:xfrm rot="5400000">
            <a:off x="7832400" y="5168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 name="Google Shape;31;p79"/>
          <p:cNvSpPr/>
          <p:nvPr/>
        </p:nvSpPr>
        <p:spPr>
          <a:xfrm rot="-2700000">
            <a:off x="248002" y="22297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 name="Google Shape;32;p79"/>
          <p:cNvSpPr/>
          <p:nvPr/>
        </p:nvSpPr>
        <p:spPr>
          <a:xfrm>
            <a:off x="3253647" y="48010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 name="Google Shape;33;p79"/>
          <p:cNvSpPr/>
          <p:nvPr/>
        </p:nvSpPr>
        <p:spPr>
          <a:xfrm>
            <a:off x="-1253581" y="-1661857"/>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 name="Google Shape;34;p79"/>
          <p:cNvSpPr/>
          <p:nvPr/>
        </p:nvSpPr>
        <p:spPr>
          <a:xfrm rot="-2700000">
            <a:off x="2499794" y="1318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80"/>
          <p:cNvSpPr/>
          <p:nvPr/>
        </p:nvSpPr>
        <p:spPr>
          <a:xfrm>
            <a:off x="-1626298" y="2598094"/>
            <a:ext cx="3114423" cy="3114423"/>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 name="Google Shape;37;p80"/>
          <p:cNvSpPr/>
          <p:nvPr/>
        </p:nvSpPr>
        <p:spPr>
          <a:xfrm>
            <a:off x="7191750" y="-13688"/>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 name="Google Shape;38;p80"/>
          <p:cNvSpPr/>
          <p:nvPr/>
        </p:nvSpPr>
        <p:spPr>
          <a:xfrm>
            <a:off x="359972" y="7434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 name="Google Shape;39;p80"/>
          <p:cNvSpPr/>
          <p:nvPr/>
        </p:nvSpPr>
        <p:spPr>
          <a:xfrm rot="-2700000">
            <a:off x="4446660" y="2041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 name="Google Shape;40;p80"/>
          <p:cNvSpPr/>
          <p:nvPr/>
        </p:nvSpPr>
        <p:spPr>
          <a:xfrm rot="-2700000">
            <a:off x="8603477" y="25031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 name="Google Shape;41;p80"/>
          <p:cNvSpPr/>
          <p:nvPr/>
        </p:nvSpPr>
        <p:spPr>
          <a:xfrm rot="-2700000">
            <a:off x="2404760" y="476165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 name="Google Shape;42;p80"/>
          <p:cNvSpPr/>
          <p:nvPr/>
        </p:nvSpPr>
        <p:spPr>
          <a:xfrm rot="-2700000">
            <a:off x="6853619" y="46324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 name="Google Shape;43;p80"/>
          <p:cNvSpPr/>
          <p:nvPr/>
        </p:nvSpPr>
        <p:spPr>
          <a:xfrm>
            <a:off x="8848072" y="43967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 name="Google Shape;44;p80"/>
          <p:cNvSpPr txBox="1"/>
          <p:nvPr>
            <p:ph type="title"/>
          </p:nvPr>
        </p:nvSpPr>
        <p:spPr>
          <a:xfrm>
            <a:off x="3151900" y="1636350"/>
            <a:ext cx="4150500" cy="1302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4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5" name="Google Shape;45;p80"/>
          <p:cNvSpPr txBox="1"/>
          <p:nvPr>
            <p:ph idx="2" type="title"/>
          </p:nvPr>
        </p:nvSpPr>
        <p:spPr>
          <a:xfrm>
            <a:off x="1475300" y="1690000"/>
            <a:ext cx="1294500" cy="908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8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6" name="Google Shape;46;p80"/>
          <p:cNvSpPr txBox="1"/>
          <p:nvPr>
            <p:ph idx="1" type="subTitle"/>
          </p:nvPr>
        </p:nvSpPr>
        <p:spPr>
          <a:xfrm>
            <a:off x="3151900" y="3080475"/>
            <a:ext cx="3124800" cy="693000"/>
          </a:xfrm>
          <a:prstGeom prst="rect">
            <a:avLst/>
          </a:prstGeom>
          <a:solidFill>
            <a:schemeClr val="dk2"/>
          </a:solid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81"/>
          <p:cNvSpPr/>
          <p:nvPr/>
        </p:nvSpPr>
        <p:spPr>
          <a:xfrm>
            <a:off x="-752503" y="-740378"/>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 name="Google Shape;49;p81"/>
          <p:cNvSpPr/>
          <p:nvPr/>
        </p:nvSpPr>
        <p:spPr>
          <a:xfrm rot="5400000">
            <a:off x="7832550" y="4153000"/>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 name="Google Shape;50;p81"/>
          <p:cNvSpPr/>
          <p:nvPr/>
        </p:nvSpPr>
        <p:spPr>
          <a:xfrm rot="-2700000">
            <a:off x="8650260" y="50555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 name="Google Shape;51;p81"/>
          <p:cNvSpPr/>
          <p:nvPr/>
        </p:nvSpPr>
        <p:spPr>
          <a:xfrm rot="-2700000">
            <a:off x="8806494" y="31366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 name="Google Shape;52;p81"/>
          <p:cNvSpPr/>
          <p:nvPr/>
        </p:nvSpPr>
        <p:spPr>
          <a:xfrm>
            <a:off x="227347" y="26846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 name="Google Shape;53;p81"/>
          <p:cNvSpPr/>
          <p:nvPr/>
        </p:nvSpPr>
        <p:spPr>
          <a:xfrm rot="-2700000">
            <a:off x="1901219" y="48340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 name="Google Shape;54;p81"/>
          <p:cNvSpPr/>
          <p:nvPr/>
        </p:nvSpPr>
        <p:spPr>
          <a:xfrm rot="-2700000">
            <a:off x="4190627" y="2161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 name="Google Shape;55;p81"/>
          <p:cNvSpPr txBox="1"/>
          <p:nvPr>
            <p:ph type="title"/>
          </p:nvPr>
        </p:nvSpPr>
        <p:spPr>
          <a:xfrm>
            <a:off x="4280550" y="826000"/>
            <a:ext cx="3936300" cy="115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6" name="Google Shape;56;p81"/>
          <p:cNvSpPr txBox="1"/>
          <p:nvPr>
            <p:ph idx="1" type="body"/>
          </p:nvPr>
        </p:nvSpPr>
        <p:spPr>
          <a:xfrm>
            <a:off x="4280550" y="2093200"/>
            <a:ext cx="3936300" cy="2224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81"/>
          <p:cNvSpPr/>
          <p:nvPr>
            <p:ph idx="2" type="pic"/>
          </p:nvPr>
        </p:nvSpPr>
        <p:spPr>
          <a:xfrm>
            <a:off x="726450" y="539500"/>
            <a:ext cx="3232800" cy="4064400"/>
          </a:xfrm>
          <a:prstGeom prst="round1Rect">
            <a:avLst>
              <a:gd fmla="val 24250"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8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0" name="Google Shape;60;p82"/>
          <p:cNvSpPr/>
          <p:nvPr/>
        </p:nvSpPr>
        <p:spPr>
          <a:xfrm>
            <a:off x="8098375" y="-3463"/>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 name="Google Shape;61;p82"/>
          <p:cNvSpPr/>
          <p:nvPr/>
        </p:nvSpPr>
        <p:spPr>
          <a:xfrm rot="-2700000">
            <a:off x="233547" y="141709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 name="Google Shape;62;p82"/>
          <p:cNvSpPr/>
          <p:nvPr/>
        </p:nvSpPr>
        <p:spPr>
          <a:xfrm rot="-2700000">
            <a:off x="2722381" y="1465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 name="Google Shape;63;p82"/>
          <p:cNvSpPr/>
          <p:nvPr/>
        </p:nvSpPr>
        <p:spPr>
          <a:xfrm rot="-2700000">
            <a:off x="8554690" y="48277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 name="Google Shape;64;p82"/>
          <p:cNvSpPr/>
          <p:nvPr/>
        </p:nvSpPr>
        <p:spPr>
          <a:xfrm rot="-2700000">
            <a:off x="8674698" y="20339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 name="Google Shape;65;p82"/>
          <p:cNvSpPr/>
          <p:nvPr/>
        </p:nvSpPr>
        <p:spPr>
          <a:xfrm rot="-2700000">
            <a:off x="4347506" y="50218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 name="Google Shape;66;p82"/>
          <p:cNvSpPr/>
          <p:nvPr/>
        </p:nvSpPr>
        <p:spPr>
          <a:xfrm>
            <a:off x="2012760" y="48737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 name="Google Shape;67;p82"/>
          <p:cNvSpPr/>
          <p:nvPr/>
        </p:nvSpPr>
        <p:spPr>
          <a:xfrm>
            <a:off x="-1783369" y="219961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_1">
    <p:spTree>
      <p:nvGrpSpPr>
        <p:cNvPr id="68" name="Shape 68"/>
        <p:cNvGrpSpPr/>
        <p:nvPr/>
      </p:nvGrpSpPr>
      <p:grpSpPr>
        <a:xfrm>
          <a:off x="0" y="0"/>
          <a:ext cx="0" cy="0"/>
          <a:chOff x="0" y="0"/>
          <a:chExt cx="0" cy="0"/>
        </a:xfrm>
      </p:grpSpPr>
      <p:sp>
        <p:nvSpPr>
          <p:cNvPr id="69" name="Google Shape;69;p8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70" name="Google Shape;70;p83"/>
          <p:cNvSpPr txBox="1"/>
          <p:nvPr>
            <p:ph idx="1" type="body"/>
          </p:nvPr>
        </p:nvSpPr>
        <p:spPr>
          <a:xfrm>
            <a:off x="720000" y="1071300"/>
            <a:ext cx="3472200" cy="15540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Font typeface="Darker Grotesque SemiBold"/>
              <a:buChar char="●"/>
              <a:defRPr sz="1200"/>
            </a:lvl1pPr>
            <a:lvl2pPr indent="-304800" lvl="1" marL="914400" algn="l">
              <a:lnSpc>
                <a:spcPct val="115000"/>
              </a:lnSpc>
              <a:spcBef>
                <a:spcPts val="0"/>
              </a:spcBef>
              <a:spcAft>
                <a:spcPts val="0"/>
              </a:spcAft>
              <a:buSzPts val="1200"/>
              <a:buFont typeface="Darker Grotesque SemiBold"/>
              <a:buChar char="○"/>
              <a:defRPr sz="1200"/>
            </a:lvl2pPr>
            <a:lvl3pPr indent="-304800" lvl="2" marL="1371600" algn="l">
              <a:lnSpc>
                <a:spcPct val="115000"/>
              </a:lnSpc>
              <a:spcBef>
                <a:spcPts val="0"/>
              </a:spcBef>
              <a:spcAft>
                <a:spcPts val="0"/>
              </a:spcAft>
              <a:buSzPts val="1200"/>
              <a:buFont typeface="Darker Grotesque SemiBold"/>
              <a:buChar char="■"/>
              <a:defRPr sz="1200"/>
            </a:lvl3pPr>
            <a:lvl4pPr indent="-304800" lvl="3" marL="1828800" algn="l">
              <a:lnSpc>
                <a:spcPct val="115000"/>
              </a:lnSpc>
              <a:spcBef>
                <a:spcPts val="0"/>
              </a:spcBef>
              <a:spcAft>
                <a:spcPts val="0"/>
              </a:spcAft>
              <a:buSzPts val="1200"/>
              <a:buFont typeface="Darker Grotesque SemiBold"/>
              <a:buChar char="●"/>
              <a:defRPr sz="1200"/>
            </a:lvl4pPr>
            <a:lvl5pPr indent="-304800" lvl="4" marL="2286000" algn="l">
              <a:lnSpc>
                <a:spcPct val="115000"/>
              </a:lnSpc>
              <a:spcBef>
                <a:spcPts val="0"/>
              </a:spcBef>
              <a:spcAft>
                <a:spcPts val="0"/>
              </a:spcAft>
              <a:buSzPts val="1200"/>
              <a:buFont typeface="Darker Grotesque SemiBold"/>
              <a:buChar char="○"/>
              <a:defRPr sz="1200"/>
            </a:lvl5pPr>
            <a:lvl6pPr indent="-304800" lvl="5" marL="2743200" algn="l">
              <a:lnSpc>
                <a:spcPct val="115000"/>
              </a:lnSpc>
              <a:spcBef>
                <a:spcPts val="0"/>
              </a:spcBef>
              <a:spcAft>
                <a:spcPts val="0"/>
              </a:spcAft>
              <a:buSzPts val="1200"/>
              <a:buFont typeface="Darker Grotesque SemiBold"/>
              <a:buChar char="■"/>
              <a:defRPr sz="1200"/>
            </a:lvl6pPr>
            <a:lvl7pPr indent="-304800" lvl="6" marL="3200400" algn="l">
              <a:lnSpc>
                <a:spcPct val="115000"/>
              </a:lnSpc>
              <a:spcBef>
                <a:spcPts val="0"/>
              </a:spcBef>
              <a:spcAft>
                <a:spcPts val="0"/>
              </a:spcAft>
              <a:buSzPts val="1200"/>
              <a:buFont typeface="Darker Grotesque SemiBold"/>
              <a:buChar char="●"/>
              <a:defRPr sz="1200"/>
            </a:lvl7pPr>
            <a:lvl8pPr indent="-304800" lvl="7" marL="3657600" algn="l">
              <a:lnSpc>
                <a:spcPct val="115000"/>
              </a:lnSpc>
              <a:spcBef>
                <a:spcPts val="0"/>
              </a:spcBef>
              <a:spcAft>
                <a:spcPts val="0"/>
              </a:spcAft>
              <a:buSzPts val="1200"/>
              <a:buFont typeface="Darker Grotesque SemiBold"/>
              <a:buChar char="○"/>
              <a:defRPr sz="1200"/>
            </a:lvl8pPr>
            <a:lvl9pPr indent="-304800" lvl="8" marL="4114800" algn="l">
              <a:lnSpc>
                <a:spcPct val="115000"/>
              </a:lnSpc>
              <a:spcBef>
                <a:spcPts val="0"/>
              </a:spcBef>
              <a:spcAft>
                <a:spcPts val="0"/>
              </a:spcAft>
              <a:buSzPts val="1200"/>
              <a:buFont typeface="Darker Grotesque SemiBold"/>
              <a:buChar char="■"/>
              <a:defRPr sz="1200"/>
            </a:lvl9pPr>
          </a:lstStyle>
          <a:p/>
        </p:txBody>
      </p:sp>
      <p:sp>
        <p:nvSpPr>
          <p:cNvPr id="71" name="Google Shape;71;p83"/>
          <p:cNvSpPr/>
          <p:nvPr/>
        </p:nvSpPr>
        <p:spPr>
          <a:xfrm rot="5400000">
            <a:off x="7832400" y="2002737"/>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 name="Google Shape;72;p83"/>
          <p:cNvSpPr/>
          <p:nvPr/>
        </p:nvSpPr>
        <p:spPr>
          <a:xfrm rot="-5400000">
            <a:off x="-780350" y="38833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 name="Google Shape;73;p83"/>
          <p:cNvSpPr/>
          <p:nvPr/>
        </p:nvSpPr>
        <p:spPr>
          <a:xfrm>
            <a:off x="4595782" y="-1767482"/>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74" name="Google Shape;74;p83"/>
          <p:cNvGrpSpPr/>
          <p:nvPr/>
        </p:nvGrpSpPr>
        <p:grpSpPr>
          <a:xfrm>
            <a:off x="-351142" y="3098441"/>
            <a:ext cx="901968" cy="901968"/>
            <a:chOff x="1350404" y="-3124999"/>
            <a:chExt cx="1570279" cy="1570279"/>
          </a:xfrm>
        </p:grpSpPr>
        <p:sp>
          <p:nvSpPr>
            <p:cNvPr id="75" name="Google Shape;75;p83"/>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 name="Google Shape;76;p83"/>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 name="Google Shape;77;p83"/>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 name="Google Shape;78;p83"/>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79" name="Google Shape;79;p83"/>
          <p:cNvSpPr/>
          <p:nvPr/>
        </p:nvSpPr>
        <p:spPr>
          <a:xfrm rot="-2700000">
            <a:off x="8806335" y="38346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0" name="Google Shape;80;p83"/>
          <p:cNvSpPr/>
          <p:nvPr/>
        </p:nvSpPr>
        <p:spPr>
          <a:xfrm rot="-2700000">
            <a:off x="4268506" y="13402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 name="Google Shape;81;p83"/>
          <p:cNvSpPr/>
          <p:nvPr/>
        </p:nvSpPr>
        <p:spPr>
          <a:xfrm rot="-2700000">
            <a:off x="2882565" y="470115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 name="Google Shape;82;p83"/>
          <p:cNvSpPr/>
          <p:nvPr/>
        </p:nvSpPr>
        <p:spPr>
          <a:xfrm rot="-2700000">
            <a:off x="8542623" y="5679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 name="Google Shape;83;p83"/>
          <p:cNvSpPr/>
          <p:nvPr/>
        </p:nvSpPr>
        <p:spPr>
          <a:xfrm rot="-2700000">
            <a:off x="7004456" y="48232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 name="Google Shape;84;p83"/>
          <p:cNvSpPr/>
          <p:nvPr/>
        </p:nvSpPr>
        <p:spPr>
          <a:xfrm>
            <a:off x="271510" y="6715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85" name="Shape 8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86" name="Shape 86"/>
        <p:cNvGrpSpPr/>
        <p:nvPr/>
      </p:nvGrpSpPr>
      <p:grpSpPr>
        <a:xfrm>
          <a:off x="0" y="0"/>
          <a:ext cx="0" cy="0"/>
          <a:chOff x="0" y="0"/>
          <a:chExt cx="0" cy="0"/>
        </a:xfrm>
      </p:grpSpPr>
      <p:sp>
        <p:nvSpPr>
          <p:cNvPr id="87" name="Google Shape;87;p85"/>
          <p:cNvSpPr/>
          <p:nvPr/>
        </p:nvSpPr>
        <p:spPr>
          <a:xfrm>
            <a:off x="-753977" y="3910975"/>
            <a:ext cx="2489827" cy="248982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88" name="Google Shape;88;p85"/>
          <p:cNvGrpSpPr/>
          <p:nvPr/>
        </p:nvGrpSpPr>
        <p:grpSpPr>
          <a:xfrm>
            <a:off x="295975" y="4188655"/>
            <a:ext cx="1694813" cy="830678"/>
            <a:chOff x="-215300" y="3851305"/>
            <a:chExt cx="1694813" cy="830678"/>
          </a:xfrm>
        </p:grpSpPr>
        <p:sp>
          <p:nvSpPr>
            <p:cNvPr id="89" name="Google Shape;89;p85"/>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90" name="Google Shape;90;p85"/>
            <p:cNvGrpSpPr/>
            <p:nvPr/>
          </p:nvGrpSpPr>
          <p:grpSpPr>
            <a:xfrm>
              <a:off x="861887" y="4031521"/>
              <a:ext cx="137882" cy="60495"/>
              <a:chOff x="1949580" y="3551527"/>
              <a:chExt cx="247410" cy="108551"/>
            </a:xfrm>
          </p:grpSpPr>
          <p:sp>
            <p:nvSpPr>
              <p:cNvPr id="91" name="Google Shape;91;p85"/>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 name="Google Shape;92;p85"/>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 name="Google Shape;93;p85"/>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94" name="Google Shape;94;p85"/>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 name="Google Shape;95;p85"/>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 name="Google Shape;96;p85"/>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 name="Google Shape;97;p85"/>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 name="Google Shape;98;p85"/>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 name="Google Shape;99;p85"/>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 name="Google Shape;100;p85"/>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 name="Google Shape;101;p85"/>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 name="Google Shape;102;p85"/>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 name="Google Shape;103;p85"/>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 name="Google Shape;104;p85"/>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 name="Google Shape;105;p85"/>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 name="Google Shape;106;p85"/>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 name="Google Shape;107;p85"/>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 name="Google Shape;108;p85"/>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 name="Google Shape;109;p85"/>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 name="Google Shape;110;p85"/>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 name="Google Shape;111;p85"/>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12" name="Google Shape;112;p85"/>
          <p:cNvSpPr/>
          <p:nvPr/>
        </p:nvSpPr>
        <p:spPr>
          <a:xfrm rot="-2700000">
            <a:off x="7679247" y="18329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 name="Google Shape;113;p85"/>
          <p:cNvSpPr/>
          <p:nvPr/>
        </p:nvSpPr>
        <p:spPr>
          <a:xfrm rot="-2700000">
            <a:off x="422294" y="56792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 name="Google Shape;114;p85"/>
          <p:cNvSpPr/>
          <p:nvPr/>
        </p:nvSpPr>
        <p:spPr>
          <a:xfrm rot="-2700000">
            <a:off x="8760102" y="35938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 name="Google Shape;115;p85"/>
          <p:cNvSpPr/>
          <p:nvPr/>
        </p:nvSpPr>
        <p:spPr>
          <a:xfrm rot="-2700000">
            <a:off x="228123" y="30408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 name="Google Shape;116;p85"/>
          <p:cNvSpPr/>
          <p:nvPr/>
        </p:nvSpPr>
        <p:spPr>
          <a:xfrm rot="-2700000">
            <a:off x="4242256" y="47461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 name="Google Shape;117;p85"/>
          <p:cNvSpPr/>
          <p:nvPr/>
        </p:nvSpPr>
        <p:spPr>
          <a:xfrm>
            <a:off x="3199535" y="1921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18" name="Google Shape;118;p85"/>
          <p:cNvGrpSpPr/>
          <p:nvPr/>
        </p:nvGrpSpPr>
        <p:grpSpPr>
          <a:xfrm>
            <a:off x="8430783" y="1741366"/>
            <a:ext cx="901968" cy="901968"/>
            <a:chOff x="1350404" y="-3124999"/>
            <a:chExt cx="1570279" cy="1570279"/>
          </a:xfrm>
        </p:grpSpPr>
        <p:sp>
          <p:nvSpPr>
            <p:cNvPr id="119" name="Google Shape;119;p85"/>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0" name="Google Shape;120;p85"/>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1" name="Google Shape;121;p85"/>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2" name="Google Shape;122;p85"/>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23" name="Google Shape;123;p85"/>
          <p:cNvSpPr/>
          <p:nvPr/>
        </p:nvSpPr>
        <p:spPr>
          <a:xfrm>
            <a:off x="4407973" y="-1942300"/>
            <a:ext cx="2489827" cy="248982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 name="Google Shape;124;p85"/>
          <p:cNvSpPr/>
          <p:nvPr/>
        </p:nvSpPr>
        <p:spPr>
          <a:xfrm>
            <a:off x="8146410" y="47549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25" name="Shape 125"/>
        <p:cNvGrpSpPr/>
        <p:nvPr/>
      </p:nvGrpSpPr>
      <p:grpSpPr>
        <a:xfrm>
          <a:off x="0" y="0"/>
          <a:ext cx="0" cy="0"/>
          <a:chOff x="0" y="0"/>
          <a:chExt cx="0" cy="0"/>
        </a:xfrm>
      </p:grpSpPr>
      <p:sp>
        <p:nvSpPr>
          <p:cNvPr id="126" name="Google Shape;126;p86"/>
          <p:cNvSpPr/>
          <p:nvPr/>
        </p:nvSpPr>
        <p:spPr>
          <a:xfrm>
            <a:off x="7128375" y="0"/>
            <a:ext cx="2517166" cy="1088852"/>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27" name="Google Shape;127;p86"/>
          <p:cNvGrpSpPr/>
          <p:nvPr/>
        </p:nvGrpSpPr>
        <p:grpSpPr>
          <a:xfrm>
            <a:off x="7650716" y="539506"/>
            <a:ext cx="1022136" cy="829949"/>
            <a:chOff x="7329141" y="362469"/>
            <a:chExt cx="1022136" cy="829949"/>
          </a:xfrm>
        </p:grpSpPr>
        <p:sp>
          <p:nvSpPr>
            <p:cNvPr id="128" name="Google Shape;128;p86"/>
            <p:cNvSpPr/>
            <p:nvPr/>
          </p:nvSpPr>
          <p:spPr>
            <a:xfrm>
              <a:off x="7329141" y="362469"/>
              <a:ext cx="1022136" cy="829949"/>
            </a:xfrm>
            <a:custGeom>
              <a:rect b="b" l="l" r="r" t="t"/>
              <a:pathLst>
                <a:path extrusionOk="0" h="1544092" w="1901648">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9" name="Google Shape;129;p86"/>
            <p:cNvSpPr/>
            <p:nvPr/>
          </p:nvSpPr>
          <p:spPr>
            <a:xfrm>
              <a:off x="7479397" y="507863"/>
              <a:ext cx="275724" cy="489918"/>
            </a:xfrm>
            <a:custGeom>
              <a:rect b="b" l="l" r="r" t="t"/>
              <a:pathLst>
                <a:path extrusionOk="0" h="911475" w="512975">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30" name="Google Shape;130;p86"/>
            <p:cNvGrpSpPr/>
            <p:nvPr/>
          </p:nvGrpSpPr>
          <p:grpSpPr>
            <a:xfrm>
              <a:off x="7581570" y="507863"/>
              <a:ext cx="449624" cy="551756"/>
              <a:chOff x="6727477" y="1096947"/>
              <a:chExt cx="836044" cy="1025951"/>
            </a:xfrm>
          </p:grpSpPr>
          <p:sp>
            <p:nvSpPr>
              <p:cNvPr id="131" name="Google Shape;131;p86"/>
              <p:cNvSpPr/>
              <p:nvPr/>
            </p:nvSpPr>
            <p:spPr>
              <a:xfrm>
                <a:off x="7050546" y="1096947"/>
                <a:ext cx="512975" cy="1014176"/>
              </a:xfrm>
              <a:custGeom>
                <a:rect b="b" l="l" r="r" t="t"/>
                <a:pathLst>
                  <a:path extrusionOk="0" h="1014176" w="512975">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2" name="Google Shape;132;p86"/>
              <p:cNvSpPr/>
              <p:nvPr/>
            </p:nvSpPr>
            <p:spPr>
              <a:xfrm>
                <a:off x="6727477" y="1609923"/>
                <a:ext cx="432531" cy="512975"/>
              </a:xfrm>
              <a:custGeom>
                <a:rect b="b" l="l" r="r" t="t"/>
                <a:pathLst>
                  <a:path extrusionOk="0" h="512975" w="432531">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33" name="Google Shape;133;p86"/>
            <p:cNvSpPr/>
            <p:nvPr/>
          </p:nvSpPr>
          <p:spPr>
            <a:xfrm>
              <a:off x="7755275" y="507863"/>
              <a:ext cx="222278" cy="438881"/>
            </a:xfrm>
            <a:custGeom>
              <a:rect b="b" l="l" r="r" t="t"/>
              <a:pathLst>
                <a:path extrusionOk="0" h="816522" w="413540">
                  <a:moveTo>
                    <a:pt x="0" y="0"/>
                  </a:moveTo>
                  <a:lnTo>
                    <a:pt x="0" y="512976"/>
                  </a:lnTo>
                  <a:lnTo>
                    <a:pt x="413541" y="81652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4" name="Google Shape;134;p86"/>
            <p:cNvSpPr/>
            <p:nvPr/>
          </p:nvSpPr>
          <p:spPr>
            <a:xfrm>
              <a:off x="7918481" y="577354"/>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5" name="Google Shape;135;p86"/>
            <p:cNvSpPr/>
            <p:nvPr/>
          </p:nvSpPr>
          <p:spPr>
            <a:xfrm>
              <a:off x="7986379" y="855683"/>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 name="Google Shape;136;p86"/>
            <p:cNvSpPr/>
            <p:nvPr/>
          </p:nvSpPr>
          <p:spPr>
            <a:xfrm>
              <a:off x="8078706" y="664248"/>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7" name="Google Shape;137;p86"/>
            <p:cNvSpPr/>
            <p:nvPr/>
          </p:nvSpPr>
          <p:spPr>
            <a:xfrm>
              <a:off x="8078706" y="691415"/>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8" name="Google Shape;138;p86"/>
            <p:cNvSpPr/>
            <p:nvPr/>
          </p:nvSpPr>
          <p:spPr>
            <a:xfrm>
              <a:off x="8078706" y="718541"/>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9" name="Google Shape;139;p86"/>
            <p:cNvSpPr/>
            <p:nvPr/>
          </p:nvSpPr>
          <p:spPr>
            <a:xfrm>
              <a:off x="8078706" y="946989"/>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0" name="Google Shape;140;p86"/>
            <p:cNvSpPr/>
            <p:nvPr/>
          </p:nvSpPr>
          <p:spPr>
            <a:xfrm>
              <a:off x="8078706" y="974156"/>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1" name="Google Shape;141;p86"/>
            <p:cNvSpPr/>
            <p:nvPr/>
          </p:nvSpPr>
          <p:spPr>
            <a:xfrm>
              <a:off x="8078706" y="1001323"/>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42" name="Google Shape;142;p86"/>
          <p:cNvSpPr/>
          <p:nvPr/>
        </p:nvSpPr>
        <p:spPr>
          <a:xfrm>
            <a:off x="6005759" y="4604009"/>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3" name="Google Shape;143;p86"/>
          <p:cNvSpPr/>
          <p:nvPr/>
        </p:nvSpPr>
        <p:spPr>
          <a:xfrm rot="-2700000">
            <a:off x="547497" y="2405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 name="Google Shape;144;p86"/>
          <p:cNvSpPr/>
          <p:nvPr/>
        </p:nvSpPr>
        <p:spPr>
          <a:xfrm rot="-2700000">
            <a:off x="3740631" y="47064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 name="Google Shape;145;p86"/>
          <p:cNvSpPr/>
          <p:nvPr/>
        </p:nvSpPr>
        <p:spPr>
          <a:xfrm rot="-2700000">
            <a:off x="4869215" y="2405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 name="Google Shape;146;p86"/>
          <p:cNvSpPr/>
          <p:nvPr/>
        </p:nvSpPr>
        <p:spPr>
          <a:xfrm rot="-2700000">
            <a:off x="249023" y="41930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 name="Google Shape;147;p86"/>
          <p:cNvSpPr/>
          <p:nvPr/>
        </p:nvSpPr>
        <p:spPr>
          <a:xfrm rot="-2700000">
            <a:off x="8701281" y="20575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 name="Google Shape;148;p86"/>
          <p:cNvSpPr/>
          <p:nvPr/>
        </p:nvSpPr>
        <p:spPr>
          <a:xfrm>
            <a:off x="8370935" y="47152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 name="Google Shape;149;p86"/>
          <p:cNvSpPr/>
          <p:nvPr/>
        </p:nvSpPr>
        <p:spPr>
          <a:xfrm>
            <a:off x="-141118" y="46039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0" name="Google Shape;150;p86"/>
          <p:cNvSpPr/>
          <p:nvPr/>
        </p:nvSpPr>
        <p:spPr>
          <a:xfrm>
            <a:off x="-1383791" y="1516059"/>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1" name="Google Shape;151;p86"/>
          <p:cNvSpPr/>
          <p:nvPr/>
        </p:nvSpPr>
        <p:spPr>
          <a:xfrm>
            <a:off x="1442285" y="1832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7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Passion One"/>
              <a:buNone/>
              <a:defRPr b="0" i="0" sz="3000" u="none" cap="none" strike="noStrike">
                <a:solidFill>
                  <a:schemeClr val="dk1"/>
                </a:solidFill>
                <a:latin typeface="Passion One"/>
                <a:ea typeface="Passion One"/>
                <a:cs typeface="Passion One"/>
                <a:sym typeface="Passion One"/>
              </a:defRPr>
            </a:lvl1pPr>
            <a:lvl2pPr lvl="1" marR="0" rtl="0" algn="l">
              <a:lnSpc>
                <a:spcPct val="100000"/>
              </a:lnSpc>
              <a:spcBef>
                <a:spcPts val="0"/>
              </a:spcBef>
              <a:spcAft>
                <a:spcPts val="0"/>
              </a:spcAft>
              <a:buClr>
                <a:schemeClr val="dk1"/>
              </a:buClr>
              <a:buSzPts val="3500"/>
              <a:buFont typeface="Passion One"/>
              <a:buNone/>
              <a:defRPr b="0" i="0" sz="3500" u="none" cap="none" strike="noStrike">
                <a:solidFill>
                  <a:schemeClr val="dk1"/>
                </a:solidFill>
                <a:latin typeface="Passion One"/>
                <a:ea typeface="Passion One"/>
                <a:cs typeface="Passion One"/>
                <a:sym typeface="Passion One"/>
              </a:defRPr>
            </a:lvl2pPr>
            <a:lvl3pPr lvl="2" marR="0" rtl="0" algn="l">
              <a:lnSpc>
                <a:spcPct val="100000"/>
              </a:lnSpc>
              <a:spcBef>
                <a:spcPts val="0"/>
              </a:spcBef>
              <a:spcAft>
                <a:spcPts val="0"/>
              </a:spcAft>
              <a:buClr>
                <a:schemeClr val="dk1"/>
              </a:buClr>
              <a:buSzPts val="3500"/>
              <a:buFont typeface="Passion One"/>
              <a:buNone/>
              <a:defRPr b="0" i="0" sz="3500" u="none" cap="none" strike="noStrike">
                <a:solidFill>
                  <a:schemeClr val="dk1"/>
                </a:solidFill>
                <a:latin typeface="Passion One"/>
                <a:ea typeface="Passion One"/>
                <a:cs typeface="Passion One"/>
                <a:sym typeface="Passion One"/>
              </a:defRPr>
            </a:lvl3pPr>
            <a:lvl4pPr lvl="3" marR="0" rtl="0" algn="l">
              <a:lnSpc>
                <a:spcPct val="100000"/>
              </a:lnSpc>
              <a:spcBef>
                <a:spcPts val="0"/>
              </a:spcBef>
              <a:spcAft>
                <a:spcPts val="0"/>
              </a:spcAft>
              <a:buClr>
                <a:schemeClr val="dk1"/>
              </a:buClr>
              <a:buSzPts val="3500"/>
              <a:buFont typeface="Passion One"/>
              <a:buNone/>
              <a:defRPr b="0" i="0" sz="3500" u="none" cap="none" strike="noStrike">
                <a:solidFill>
                  <a:schemeClr val="dk1"/>
                </a:solidFill>
                <a:latin typeface="Passion One"/>
                <a:ea typeface="Passion One"/>
                <a:cs typeface="Passion One"/>
                <a:sym typeface="Passion One"/>
              </a:defRPr>
            </a:lvl4pPr>
            <a:lvl5pPr lvl="4" marR="0" rtl="0" algn="l">
              <a:lnSpc>
                <a:spcPct val="100000"/>
              </a:lnSpc>
              <a:spcBef>
                <a:spcPts val="0"/>
              </a:spcBef>
              <a:spcAft>
                <a:spcPts val="0"/>
              </a:spcAft>
              <a:buClr>
                <a:schemeClr val="dk1"/>
              </a:buClr>
              <a:buSzPts val="3500"/>
              <a:buFont typeface="Passion One"/>
              <a:buNone/>
              <a:defRPr b="0" i="0" sz="3500" u="none" cap="none" strike="noStrike">
                <a:solidFill>
                  <a:schemeClr val="dk1"/>
                </a:solidFill>
                <a:latin typeface="Passion One"/>
                <a:ea typeface="Passion One"/>
                <a:cs typeface="Passion One"/>
                <a:sym typeface="Passion One"/>
              </a:defRPr>
            </a:lvl5pPr>
            <a:lvl6pPr lvl="5" marR="0" rtl="0" algn="l">
              <a:lnSpc>
                <a:spcPct val="100000"/>
              </a:lnSpc>
              <a:spcBef>
                <a:spcPts val="0"/>
              </a:spcBef>
              <a:spcAft>
                <a:spcPts val="0"/>
              </a:spcAft>
              <a:buClr>
                <a:schemeClr val="dk1"/>
              </a:buClr>
              <a:buSzPts val="3500"/>
              <a:buFont typeface="Passion One"/>
              <a:buNone/>
              <a:defRPr b="0" i="0" sz="3500" u="none" cap="none" strike="noStrike">
                <a:solidFill>
                  <a:schemeClr val="dk1"/>
                </a:solidFill>
                <a:latin typeface="Passion One"/>
                <a:ea typeface="Passion One"/>
                <a:cs typeface="Passion One"/>
                <a:sym typeface="Passion One"/>
              </a:defRPr>
            </a:lvl6pPr>
            <a:lvl7pPr lvl="6" marR="0" rtl="0" algn="l">
              <a:lnSpc>
                <a:spcPct val="100000"/>
              </a:lnSpc>
              <a:spcBef>
                <a:spcPts val="0"/>
              </a:spcBef>
              <a:spcAft>
                <a:spcPts val="0"/>
              </a:spcAft>
              <a:buClr>
                <a:schemeClr val="dk1"/>
              </a:buClr>
              <a:buSzPts val="3500"/>
              <a:buFont typeface="Passion One"/>
              <a:buNone/>
              <a:defRPr b="0" i="0" sz="3500" u="none" cap="none" strike="noStrike">
                <a:solidFill>
                  <a:schemeClr val="dk1"/>
                </a:solidFill>
                <a:latin typeface="Passion One"/>
                <a:ea typeface="Passion One"/>
                <a:cs typeface="Passion One"/>
                <a:sym typeface="Passion One"/>
              </a:defRPr>
            </a:lvl7pPr>
            <a:lvl8pPr lvl="7" marR="0" rtl="0" algn="l">
              <a:lnSpc>
                <a:spcPct val="100000"/>
              </a:lnSpc>
              <a:spcBef>
                <a:spcPts val="0"/>
              </a:spcBef>
              <a:spcAft>
                <a:spcPts val="0"/>
              </a:spcAft>
              <a:buClr>
                <a:schemeClr val="dk1"/>
              </a:buClr>
              <a:buSzPts val="3500"/>
              <a:buFont typeface="Passion One"/>
              <a:buNone/>
              <a:defRPr b="0" i="0" sz="3500" u="none" cap="none" strike="noStrike">
                <a:solidFill>
                  <a:schemeClr val="dk1"/>
                </a:solidFill>
                <a:latin typeface="Passion One"/>
                <a:ea typeface="Passion One"/>
                <a:cs typeface="Passion One"/>
                <a:sym typeface="Passion One"/>
              </a:defRPr>
            </a:lvl8pPr>
            <a:lvl9pPr lvl="8" marR="0" rtl="0" algn="l">
              <a:lnSpc>
                <a:spcPct val="100000"/>
              </a:lnSpc>
              <a:spcBef>
                <a:spcPts val="0"/>
              </a:spcBef>
              <a:spcAft>
                <a:spcPts val="0"/>
              </a:spcAft>
              <a:buClr>
                <a:schemeClr val="dk1"/>
              </a:buClr>
              <a:buSzPts val="3500"/>
              <a:buFont typeface="Passion One"/>
              <a:buNone/>
              <a:defRPr b="0" i="0" sz="3500" u="none" cap="none" strike="noStrike">
                <a:solidFill>
                  <a:schemeClr val="dk1"/>
                </a:solidFill>
                <a:latin typeface="Passion One"/>
                <a:ea typeface="Passion One"/>
                <a:cs typeface="Passion One"/>
                <a:sym typeface="Passion One"/>
              </a:defRPr>
            </a:lvl9pPr>
          </a:lstStyle>
          <a:p/>
        </p:txBody>
      </p:sp>
      <p:sp>
        <p:nvSpPr>
          <p:cNvPr id="7" name="Google Shape;7;p7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1pPr>
            <a:lvl2pPr indent="-317500" lvl="1" marL="9144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2pPr>
            <a:lvl3pPr indent="-317500" lvl="2" marL="13716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3pPr>
            <a:lvl4pPr indent="-317500" lvl="3" marL="18288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4pPr>
            <a:lvl5pPr indent="-317500" lvl="4" marL="22860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5pPr>
            <a:lvl6pPr indent="-317500" lvl="5" marL="27432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6pPr>
            <a:lvl7pPr indent="-317500" lvl="6" marL="32004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7pPr>
            <a:lvl8pPr indent="-317500" lvl="7" marL="36576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8pPr>
            <a:lvl9pPr indent="-317500" lvl="8" marL="4114800" marR="0" rtl="0" algn="l">
              <a:lnSpc>
                <a:spcPct val="115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5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6.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5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4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5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5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49.png"/><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7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6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5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6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6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6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6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5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5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5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 Id="rId3" Type="http://schemas.openxmlformats.org/officeDocument/2006/relationships/image" Target="../media/image6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6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 Id="rId3" Type="http://schemas.openxmlformats.org/officeDocument/2006/relationships/image" Target="../media/image6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6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image" Target="../media/image6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6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6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 Id="rId3"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
          <p:cNvSpPr txBox="1"/>
          <p:nvPr>
            <p:ph type="ctrTitle"/>
          </p:nvPr>
        </p:nvSpPr>
        <p:spPr>
          <a:xfrm>
            <a:off x="1188150" y="1577800"/>
            <a:ext cx="6747900" cy="17439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5200"/>
              <a:buNone/>
            </a:pPr>
            <a:r>
              <a:rPr lang="en-US" sz="6000"/>
              <a:t>Section 3</a:t>
            </a:r>
            <a:endParaRPr sz="6000"/>
          </a:p>
          <a:p>
            <a:pPr indent="0" lvl="0" marL="0" rtl="0" algn="ctr">
              <a:lnSpc>
                <a:spcPct val="90000"/>
              </a:lnSpc>
              <a:spcBef>
                <a:spcPts val="0"/>
              </a:spcBef>
              <a:spcAft>
                <a:spcPts val="0"/>
              </a:spcAft>
              <a:buSzPts val="5200"/>
              <a:buNone/>
            </a:pPr>
            <a:r>
              <a:rPr lang="en-US" sz="3600"/>
              <a:t>Exploratory Data Analysis</a:t>
            </a:r>
            <a:endParaRPr/>
          </a:p>
        </p:txBody>
      </p:sp>
      <p:sp>
        <p:nvSpPr>
          <p:cNvPr id="157" name="Google Shape;157;p1"/>
          <p:cNvSpPr txBox="1"/>
          <p:nvPr>
            <p:ph idx="1" type="subTitle"/>
          </p:nvPr>
        </p:nvSpPr>
        <p:spPr>
          <a:xfrm>
            <a:off x="3078450" y="3586829"/>
            <a:ext cx="2987100" cy="1415742"/>
          </a:xfrm>
          <a:prstGeom prst="rect">
            <a:avLst/>
          </a:prstGeom>
          <a:solidFill>
            <a:schemeClr val="dk2"/>
          </a:solid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1400"/>
              <a:buNone/>
            </a:pPr>
            <a:r>
              <a:rPr b="1" lang="en-US"/>
              <a:t>TAs</a:t>
            </a:r>
            <a:endParaRPr b="1"/>
          </a:p>
          <a:p>
            <a:pPr indent="0" lvl="0" marL="0" rtl="0" algn="ctr">
              <a:lnSpc>
                <a:spcPct val="100000"/>
              </a:lnSpc>
              <a:spcBef>
                <a:spcPts val="0"/>
              </a:spcBef>
              <a:spcAft>
                <a:spcPts val="0"/>
              </a:spcAft>
              <a:buSzPts val="1400"/>
              <a:buNone/>
            </a:pPr>
            <a:r>
              <a:t/>
            </a:r>
            <a:endParaRPr/>
          </a:p>
          <a:p>
            <a:pPr indent="0" lvl="0" marL="0" rtl="0" algn="ctr">
              <a:lnSpc>
                <a:spcPct val="100000"/>
              </a:lnSpc>
              <a:spcBef>
                <a:spcPts val="0"/>
              </a:spcBef>
              <a:spcAft>
                <a:spcPts val="0"/>
              </a:spcAft>
              <a:buSzPts val="1400"/>
              <a:buNone/>
            </a:pPr>
            <a:r>
              <a:rPr lang="en-US"/>
              <a:t>Hoda Osama</a:t>
            </a:r>
            <a:endParaRPr/>
          </a:p>
          <a:p>
            <a:pPr indent="0" lvl="0" marL="0" rtl="0" algn="ctr">
              <a:lnSpc>
                <a:spcPct val="100000"/>
              </a:lnSpc>
              <a:spcBef>
                <a:spcPts val="0"/>
              </a:spcBef>
              <a:spcAft>
                <a:spcPts val="0"/>
              </a:spcAft>
              <a:buSzPts val="1400"/>
              <a:buNone/>
            </a:pPr>
            <a:r>
              <a:rPr lang="en-US"/>
              <a:t>Marwan Nour</a:t>
            </a:r>
            <a:endParaRPr/>
          </a:p>
          <a:p>
            <a:pPr indent="0" lvl="0" marL="0" rtl="0" algn="ctr">
              <a:lnSpc>
                <a:spcPct val="100000"/>
              </a:lnSpc>
              <a:spcBef>
                <a:spcPts val="0"/>
              </a:spcBef>
              <a:spcAft>
                <a:spcPts val="0"/>
              </a:spcAft>
              <a:buSzPts val="1400"/>
              <a:buNone/>
            </a:pPr>
            <a:r>
              <a:rPr lang="en-US"/>
              <a:t>Yasmina Ayman</a:t>
            </a:r>
            <a:endParaRPr/>
          </a:p>
        </p:txBody>
      </p:sp>
      <p:grpSp>
        <p:nvGrpSpPr>
          <p:cNvPr id="158" name="Google Shape;158;p1"/>
          <p:cNvGrpSpPr/>
          <p:nvPr/>
        </p:nvGrpSpPr>
        <p:grpSpPr>
          <a:xfrm>
            <a:off x="8118467" y="4032000"/>
            <a:ext cx="1098803" cy="732535"/>
            <a:chOff x="8118467" y="4032000"/>
            <a:chExt cx="1098803" cy="732535"/>
          </a:xfrm>
        </p:grpSpPr>
        <p:sp>
          <p:nvSpPr>
            <p:cNvPr id="159" name="Google Shape;159;p1"/>
            <p:cNvSpPr/>
            <p:nvPr/>
          </p:nvSpPr>
          <p:spPr>
            <a:xfrm>
              <a:off x="8118467" y="4032000"/>
              <a:ext cx="183134" cy="183133"/>
            </a:xfrm>
            <a:custGeom>
              <a:rect b="b" l="l" r="r" t="t"/>
              <a:pathLst>
                <a:path extrusionOk="0" h="254246" w="254247">
                  <a:moveTo>
                    <a:pt x="254248" y="254247"/>
                  </a:moveTo>
                  <a:lnTo>
                    <a:pt x="0" y="254247"/>
                  </a:lnTo>
                  <a:lnTo>
                    <a:pt x="0" y="106044"/>
                  </a:lnTo>
                  <a:cubicBezTo>
                    <a:pt x="0" y="47477"/>
                    <a:pt x="47477" y="0"/>
                    <a:pt x="106044" y="0"/>
                  </a:cubicBezTo>
                  <a:lnTo>
                    <a:pt x="254248" y="0"/>
                  </a:lnTo>
                  <a:lnTo>
                    <a:pt x="254248"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 name="Google Shape;160;p1"/>
            <p:cNvSpPr/>
            <p:nvPr/>
          </p:nvSpPr>
          <p:spPr>
            <a:xfrm>
              <a:off x="8118467" y="4215134"/>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1" name="Google Shape;161;p1"/>
            <p:cNvSpPr/>
            <p:nvPr/>
          </p:nvSpPr>
          <p:spPr>
            <a:xfrm>
              <a:off x="8118467" y="4398268"/>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 name="Google Shape;162;p1"/>
            <p:cNvSpPr/>
            <p:nvPr/>
          </p:nvSpPr>
          <p:spPr>
            <a:xfrm>
              <a:off x="8118467" y="4581402"/>
              <a:ext cx="183134" cy="183079"/>
            </a:xfrm>
            <a:custGeom>
              <a:rect b="b" l="l" r="r" t="t"/>
              <a:pathLst>
                <a:path extrusionOk="0" h="254170" w="254247">
                  <a:moveTo>
                    <a:pt x="254248" y="254171"/>
                  </a:moveTo>
                  <a:lnTo>
                    <a:pt x="106044" y="254171"/>
                  </a:lnTo>
                  <a:cubicBezTo>
                    <a:pt x="47477" y="254171"/>
                    <a:pt x="0" y="206694"/>
                    <a:pt x="0" y="148127"/>
                  </a:cubicBezTo>
                  <a:lnTo>
                    <a:pt x="0" y="0"/>
                  </a:lnTo>
                  <a:lnTo>
                    <a:pt x="254248" y="0"/>
                  </a:lnTo>
                  <a:lnTo>
                    <a:pt x="254248" y="254171"/>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 name="Google Shape;163;p1"/>
            <p:cNvSpPr/>
            <p:nvPr/>
          </p:nvSpPr>
          <p:spPr>
            <a:xfrm>
              <a:off x="8301601" y="4032000"/>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 name="Google Shape;164;p1"/>
            <p:cNvSpPr/>
            <p:nvPr/>
          </p:nvSpPr>
          <p:spPr>
            <a:xfrm>
              <a:off x="8301601" y="4215134"/>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5" name="Google Shape;165;p1"/>
            <p:cNvSpPr/>
            <p:nvPr/>
          </p:nvSpPr>
          <p:spPr>
            <a:xfrm>
              <a:off x="8301601" y="4398268"/>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 name="Google Shape;166;p1"/>
            <p:cNvSpPr/>
            <p:nvPr/>
          </p:nvSpPr>
          <p:spPr>
            <a:xfrm>
              <a:off x="8301601" y="4581402"/>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 name="Google Shape;167;p1"/>
            <p:cNvSpPr/>
            <p:nvPr/>
          </p:nvSpPr>
          <p:spPr>
            <a:xfrm>
              <a:off x="8484735" y="4032000"/>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 name="Google Shape;168;p1"/>
            <p:cNvSpPr/>
            <p:nvPr/>
          </p:nvSpPr>
          <p:spPr>
            <a:xfrm>
              <a:off x="8484735" y="4215134"/>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 name="Google Shape;169;p1"/>
            <p:cNvSpPr/>
            <p:nvPr/>
          </p:nvSpPr>
          <p:spPr>
            <a:xfrm>
              <a:off x="8484735" y="4398268"/>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 name="Google Shape;170;p1"/>
            <p:cNvSpPr/>
            <p:nvPr/>
          </p:nvSpPr>
          <p:spPr>
            <a:xfrm>
              <a:off x="8484735" y="4581402"/>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1" name="Google Shape;171;p1"/>
            <p:cNvSpPr/>
            <p:nvPr/>
          </p:nvSpPr>
          <p:spPr>
            <a:xfrm>
              <a:off x="8667869" y="4032000"/>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 name="Google Shape;172;p1"/>
            <p:cNvSpPr/>
            <p:nvPr/>
          </p:nvSpPr>
          <p:spPr>
            <a:xfrm>
              <a:off x="8667869" y="4215134"/>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 name="Google Shape;173;p1"/>
            <p:cNvSpPr/>
            <p:nvPr/>
          </p:nvSpPr>
          <p:spPr>
            <a:xfrm>
              <a:off x="8667869" y="4398268"/>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 name="Google Shape;174;p1"/>
            <p:cNvSpPr/>
            <p:nvPr/>
          </p:nvSpPr>
          <p:spPr>
            <a:xfrm>
              <a:off x="8667869" y="4581402"/>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 name="Google Shape;175;p1"/>
            <p:cNvSpPr/>
            <p:nvPr/>
          </p:nvSpPr>
          <p:spPr>
            <a:xfrm>
              <a:off x="8851003" y="4032000"/>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 name="Google Shape;176;p1"/>
            <p:cNvSpPr/>
            <p:nvPr/>
          </p:nvSpPr>
          <p:spPr>
            <a:xfrm>
              <a:off x="8851003" y="4215134"/>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 name="Google Shape;177;p1"/>
            <p:cNvSpPr/>
            <p:nvPr/>
          </p:nvSpPr>
          <p:spPr>
            <a:xfrm>
              <a:off x="8851003" y="4398268"/>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8" name="Google Shape;178;p1"/>
            <p:cNvSpPr/>
            <p:nvPr/>
          </p:nvSpPr>
          <p:spPr>
            <a:xfrm>
              <a:off x="8851003" y="4581402"/>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 name="Google Shape;179;p1"/>
            <p:cNvSpPr/>
            <p:nvPr/>
          </p:nvSpPr>
          <p:spPr>
            <a:xfrm>
              <a:off x="9034137" y="4032000"/>
              <a:ext cx="183133" cy="183133"/>
            </a:xfrm>
            <a:custGeom>
              <a:rect b="b" l="l" r="r" t="t"/>
              <a:pathLst>
                <a:path extrusionOk="0" h="254246" w="254246">
                  <a:moveTo>
                    <a:pt x="254247" y="254247"/>
                  </a:moveTo>
                  <a:lnTo>
                    <a:pt x="0" y="254247"/>
                  </a:lnTo>
                  <a:lnTo>
                    <a:pt x="0" y="0"/>
                  </a:lnTo>
                  <a:lnTo>
                    <a:pt x="148203" y="0"/>
                  </a:lnTo>
                  <a:cubicBezTo>
                    <a:pt x="206770" y="0"/>
                    <a:pt x="254247" y="47477"/>
                    <a:pt x="254247" y="106044"/>
                  </a:cubicBezTo>
                  <a:lnTo>
                    <a:pt x="254247"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 name="Google Shape;180;p1"/>
            <p:cNvSpPr/>
            <p:nvPr/>
          </p:nvSpPr>
          <p:spPr>
            <a:xfrm>
              <a:off x="9034137" y="4215134"/>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 name="Google Shape;181;p1"/>
            <p:cNvSpPr/>
            <p:nvPr/>
          </p:nvSpPr>
          <p:spPr>
            <a:xfrm>
              <a:off x="9034137" y="4398268"/>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 name="Google Shape;182;p1"/>
            <p:cNvSpPr/>
            <p:nvPr/>
          </p:nvSpPr>
          <p:spPr>
            <a:xfrm>
              <a:off x="9034082" y="4581402"/>
              <a:ext cx="183133" cy="183079"/>
            </a:xfrm>
            <a:custGeom>
              <a:rect b="b" l="l" r="r" t="t"/>
              <a:pathLst>
                <a:path extrusionOk="0" h="254170" w="254246">
                  <a:moveTo>
                    <a:pt x="148203" y="254171"/>
                  </a:moveTo>
                  <a:lnTo>
                    <a:pt x="0" y="254171"/>
                  </a:lnTo>
                  <a:lnTo>
                    <a:pt x="0" y="0"/>
                  </a:lnTo>
                  <a:lnTo>
                    <a:pt x="254247" y="0"/>
                  </a:lnTo>
                  <a:lnTo>
                    <a:pt x="254247" y="148203"/>
                  </a:lnTo>
                  <a:cubicBezTo>
                    <a:pt x="254323" y="206694"/>
                    <a:pt x="206770" y="254171"/>
                    <a:pt x="148203" y="25417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 name="Google Shape;183;p1"/>
            <p:cNvSpPr/>
            <p:nvPr/>
          </p:nvSpPr>
          <p:spPr>
            <a:xfrm>
              <a:off x="8273696" y="4184110"/>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76"/>
                    <a:pt x="77482" y="1739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 name="Google Shape;184;p1"/>
            <p:cNvSpPr/>
            <p:nvPr/>
          </p:nvSpPr>
          <p:spPr>
            <a:xfrm>
              <a:off x="8368300" y="4275103"/>
              <a:ext cx="55810" cy="55810"/>
            </a:xfrm>
            <a:custGeom>
              <a:rect b="b" l="l" r="r" t="t"/>
              <a:pathLst>
                <a:path extrusionOk="0" h="77481" w="77481">
                  <a:moveTo>
                    <a:pt x="77482" y="38741"/>
                  </a:moveTo>
                  <a:cubicBezTo>
                    <a:pt x="77482" y="60137"/>
                    <a:pt x="60138" y="77482"/>
                    <a:pt x="38741" y="77482"/>
                  </a:cubicBezTo>
                  <a:cubicBezTo>
                    <a:pt x="17345" y="77482"/>
                    <a:pt x="1" y="60137"/>
                    <a:pt x="1" y="38741"/>
                  </a:cubicBezTo>
                  <a:cubicBezTo>
                    <a:pt x="1" y="17345"/>
                    <a:pt x="17345" y="0"/>
                    <a:pt x="38741" y="0"/>
                  </a:cubicBezTo>
                  <a:cubicBezTo>
                    <a:pt x="60138" y="0"/>
                    <a:pt x="77482" y="1734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 name="Google Shape;185;p1"/>
            <p:cNvSpPr/>
            <p:nvPr/>
          </p:nvSpPr>
          <p:spPr>
            <a:xfrm>
              <a:off x="8588258" y="4076429"/>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0"/>
                    <a:pt x="77482" y="17395"/>
                    <a:pt x="77482" y="38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6" name="Google Shape;186;p1"/>
            <p:cNvSpPr/>
            <p:nvPr/>
          </p:nvSpPr>
          <p:spPr>
            <a:xfrm>
              <a:off x="8456830" y="4433997"/>
              <a:ext cx="55810" cy="55810"/>
            </a:xfrm>
            <a:custGeom>
              <a:rect b="b" l="l" r="r" t="t"/>
              <a:pathLst>
                <a:path extrusionOk="0" h="77481" w="77481">
                  <a:moveTo>
                    <a:pt x="77482" y="38741"/>
                  </a:moveTo>
                  <a:cubicBezTo>
                    <a:pt x="77482" y="60162"/>
                    <a:pt x="60162" y="77482"/>
                    <a:pt x="38741" y="77482"/>
                  </a:cubicBezTo>
                  <a:cubicBezTo>
                    <a:pt x="17320" y="77482"/>
                    <a:pt x="0" y="60162"/>
                    <a:pt x="0" y="38741"/>
                  </a:cubicBezTo>
                  <a:cubicBezTo>
                    <a:pt x="0" y="17319"/>
                    <a:pt x="17320" y="0"/>
                    <a:pt x="38741" y="0"/>
                  </a:cubicBezTo>
                  <a:cubicBezTo>
                    <a:pt x="60086" y="0"/>
                    <a:pt x="77482" y="17395"/>
                    <a:pt x="77482" y="3874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 name="Google Shape;187;p1"/>
            <p:cNvSpPr/>
            <p:nvPr/>
          </p:nvSpPr>
          <p:spPr>
            <a:xfrm>
              <a:off x="8726908" y="4658168"/>
              <a:ext cx="55810" cy="55810"/>
            </a:xfrm>
            <a:custGeom>
              <a:rect b="b" l="l" r="r" t="t"/>
              <a:pathLst>
                <a:path extrusionOk="0" h="77481" w="77481">
                  <a:moveTo>
                    <a:pt x="77482" y="38741"/>
                  </a:moveTo>
                  <a:cubicBezTo>
                    <a:pt x="77482" y="60137"/>
                    <a:pt x="60137" y="77482"/>
                    <a:pt x="38741" y="77482"/>
                  </a:cubicBezTo>
                  <a:cubicBezTo>
                    <a:pt x="17345" y="77482"/>
                    <a:pt x="0" y="60137"/>
                    <a:pt x="0" y="38741"/>
                  </a:cubicBezTo>
                  <a:cubicBezTo>
                    <a:pt x="0" y="17345"/>
                    <a:pt x="17345" y="0"/>
                    <a:pt x="38741" y="0"/>
                  </a:cubicBezTo>
                  <a:cubicBezTo>
                    <a:pt x="60137" y="0"/>
                    <a:pt x="77482" y="17345"/>
                    <a:pt x="77482" y="3874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8" name="Google Shape;188;p1"/>
            <p:cNvSpPr/>
            <p:nvPr/>
          </p:nvSpPr>
          <p:spPr>
            <a:xfrm>
              <a:off x="8518057" y="4370363"/>
              <a:ext cx="55810" cy="55810"/>
            </a:xfrm>
            <a:custGeom>
              <a:rect b="b" l="l" r="r" t="t"/>
              <a:pathLst>
                <a:path extrusionOk="0" h="77481" w="77481">
                  <a:moveTo>
                    <a:pt x="77482" y="38741"/>
                  </a:moveTo>
                  <a:cubicBezTo>
                    <a:pt x="77482" y="60137"/>
                    <a:pt x="60137" y="77482"/>
                    <a:pt x="38741" y="77482"/>
                  </a:cubicBezTo>
                  <a:cubicBezTo>
                    <a:pt x="17345" y="77482"/>
                    <a:pt x="1" y="60137"/>
                    <a:pt x="1" y="38741"/>
                  </a:cubicBezTo>
                  <a:cubicBezTo>
                    <a:pt x="1" y="17345"/>
                    <a:pt x="17345" y="0"/>
                    <a:pt x="38741" y="0"/>
                  </a:cubicBezTo>
                  <a:cubicBezTo>
                    <a:pt x="60137" y="0"/>
                    <a:pt x="77482" y="17345"/>
                    <a:pt x="77482" y="3874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 name="Google Shape;189;p1"/>
            <p:cNvSpPr/>
            <p:nvPr/>
          </p:nvSpPr>
          <p:spPr>
            <a:xfrm>
              <a:off x="8170393" y="4076429"/>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086" y="0"/>
                    <a:pt x="77482" y="17395"/>
                    <a:pt x="77482" y="3874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0" name="Google Shape;190;p1"/>
            <p:cNvSpPr/>
            <p:nvPr/>
          </p:nvSpPr>
          <p:spPr>
            <a:xfrm>
              <a:off x="8456830" y="4293542"/>
              <a:ext cx="55810" cy="55810"/>
            </a:xfrm>
            <a:custGeom>
              <a:rect b="b" l="l" r="r" t="t"/>
              <a:pathLst>
                <a:path extrusionOk="0" h="77481" w="77481">
                  <a:moveTo>
                    <a:pt x="77482" y="38741"/>
                  </a:moveTo>
                  <a:cubicBezTo>
                    <a:pt x="77482" y="60162"/>
                    <a:pt x="60162" y="77482"/>
                    <a:pt x="38741" y="77482"/>
                  </a:cubicBezTo>
                  <a:cubicBezTo>
                    <a:pt x="17320" y="77482"/>
                    <a:pt x="0" y="60162"/>
                    <a:pt x="0" y="38741"/>
                  </a:cubicBezTo>
                  <a:cubicBezTo>
                    <a:pt x="0" y="17319"/>
                    <a:pt x="17320" y="0"/>
                    <a:pt x="38741" y="0"/>
                  </a:cubicBezTo>
                  <a:cubicBezTo>
                    <a:pt x="60086" y="0"/>
                    <a:pt x="77482" y="17319"/>
                    <a:pt x="77482" y="38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1" name="Google Shape;191;p1"/>
            <p:cNvSpPr/>
            <p:nvPr/>
          </p:nvSpPr>
          <p:spPr>
            <a:xfrm>
              <a:off x="8368300" y="4378844"/>
              <a:ext cx="55810" cy="55810"/>
            </a:xfrm>
            <a:custGeom>
              <a:rect b="b" l="l" r="r" t="t"/>
              <a:pathLst>
                <a:path extrusionOk="0" h="77481" w="77481">
                  <a:moveTo>
                    <a:pt x="77482" y="38741"/>
                  </a:moveTo>
                  <a:cubicBezTo>
                    <a:pt x="77482" y="60137"/>
                    <a:pt x="60138" y="77482"/>
                    <a:pt x="38741" y="77482"/>
                  </a:cubicBezTo>
                  <a:cubicBezTo>
                    <a:pt x="17345" y="77482"/>
                    <a:pt x="1" y="60137"/>
                    <a:pt x="1" y="38741"/>
                  </a:cubicBezTo>
                  <a:cubicBezTo>
                    <a:pt x="1" y="17345"/>
                    <a:pt x="17345" y="0"/>
                    <a:pt x="38741" y="0"/>
                  </a:cubicBezTo>
                  <a:cubicBezTo>
                    <a:pt x="60138" y="0"/>
                    <a:pt x="77482" y="17345"/>
                    <a:pt x="77482" y="38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2" name="Google Shape;192;p1"/>
            <p:cNvSpPr/>
            <p:nvPr/>
          </p:nvSpPr>
          <p:spPr>
            <a:xfrm>
              <a:off x="8202566" y="4461903"/>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086" y="0"/>
                    <a:pt x="77482" y="1739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 name="Google Shape;193;p1"/>
            <p:cNvSpPr/>
            <p:nvPr/>
          </p:nvSpPr>
          <p:spPr>
            <a:xfrm>
              <a:off x="8174660" y="4617132"/>
              <a:ext cx="55810" cy="55810"/>
            </a:xfrm>
            <a:custGeom>
              <a:rect b="b" l="l" r="r" t="t"/>
              <a:pathLst>
                <a:path extrusionOk="0" h="77481" w="77482">
                  <a:moveTo>
                    <a:pt x="77482" y="38741"/>
                  </a:moveTo>
                  <a:cubicBezTo>
                    <a:pt x="77482" y="60162"/>
                    <a:pt x="60163" y="77482"/>
                    <a:pt x="38742" y="77482"/>
                  </a:cubicBezTo>
                  <a:cubicBezTo>
                    <a:pt x="17320" y="77482"/>
                    <a:pt x="0" y="60162"/>
                    <a:pt x="0" y="38741"/>
                  </a:cubicBezTo>
                  <a:cubicBezTo>
                    <a:pt x="0" y="17320"/>
                    <a:pt x="17320" y="0"/>
                    <a:pt x="38742" y="0"/>
                  </a:cubicBezTo>
                  <a:cubicBezTo>
                    <a:pt x="60163" y="0"/>
                    <a:pt x="77482" y="17396"/>
                    <a:pt x="77482" y="38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 name="Google Shape;194;p1"/>
            <p:cNvSpPr/>
            <p:nvPr/>
          </p:nvSpPr>
          <p:spPr>
            <a:xfrm>
              <a:off x="8273696" y="4321447"/>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0"/>
                    <a:pt x="77482" y="17319"/>
                    <a:pt x="77482" y="3874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 name="Google Shape;195;p1"/>
            <p:cNvSpPr/>
            <p:nvPr/>
          </p:nvSpPr>
          <p:spPr>
            <a:xfrm>
              <a:off x="8919671" y="4247252"/>
              <a:ext cx="55810" cy="55810"/>
            </a:xfrm>
            <a:custGeom>
              <a:rect b="b" l="l" r="r" t="t"/>
              <a:pathLst>
                <a:path extrusionOk="0" h="77481" w="77481">
                  <a:moveTo>
                    <a:pt x="77482" y="38741"/>
                  </a:moveTo>
                  <a:cubicBezTo>
                    <a:pt x="77482" y="60162"/>
                    <a:pt x="60163" y="77482"/>
                    <a:pt x="38741" y="77482"/>
                  </a:cubicBezTo>
                  <a:cubicBezTo>
                    <a:pt x="17320" y="77482"/>
                    <a:pt x="0" y="60162"/>
                    <a:pt x="0" y="38741"/>
                  </a:cubicBezTo>
                  <a:cubicBezTo>
                    <a:pt x="0" y="17319"/>
                    <a:pt x="17320" y="0"/>
                    <a:pt x="38741" y="0"/>
                  </a:cubicBezTo>
                  <a:cubicBezTo>
                    <a:pt x="60163" y="0"/>
                    <a:pt x="77482" y="17319"/>
                    <a:pt x="77482" y="3874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6" name="Google Shape;196;p1"/>
          <p:cNvGrpSpPr/>
          <p:nvPr/>
        </p:nvGrpSpPr>
        <p:grpSpPr>
          <a:xfrm>
            <a:off x="1062846" y="290916"/>
            <a:ext cx="901968" cy="901968"/>
            <a:chOff x="1350404" y="-3124999"/>
            <a:chExt cx="1570279" cy="1570279"/>
          </a:xfrm>
        </p:grpSpPr>
        <p:sp>
          <p:nvSpPr>
            <p:cNvPr id="197" name="Google Shape;197;p1"/>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8" name="Google Shape;198;p1"/>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9" name="Google Shape;199;p1"/>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 name="Google Shape;200;p1"/>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01" name="Google Shape;201;p1"/>
          <p:cNvSpPr txBox="1"/>
          <p:nvPr>
            <p:ph idx="2" type="ctrTitle"/>
          </p:nvPr>
        </p:nvSpPr>
        <p:spPr>
          <a:xfrm>
            <a:off x="5193400" y="148900"/>
            <a:ext cx="3819300" cy="445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US" sz="1900"/>
              <a:t>ECE3403 - Data Analytics &amp; Optimization</a:t>
            </a:r>
            <a:endParaRPr sz="1900"/>
          </a:p>
        </p:txBody>
      </p:sp>
      <p:grpSp>
        <p:nvGrpSpPr>
          <p:cNvPr id="202" name="Google Shape;202;p1"/>
          <p:cNvGrpSpPr/>
          <p:nvPr/>
        </p:nvGrpSpPr>
        <p:grpSpPr>
          <a:xfrm>
            <a:off x="4060641" y="594094"/>
            <a:ext cx="1022706" cy="830413"/>
            <a:chOff x="7329141" y="362469"/>
            <a:chExt cx="1022706" cy="830413"/>
          </a:xfrm>
        </p:grpSpPr>
        <p:sp>
          <p:nvSpPr>
            <p:cNvPr id="203" name="Google Shape;203;p1"/>
            <p:cNvSpPr/>
            <p:nvPr/>
          </p:nvSpPr>
          <p:spPr>
            <a:xfrm>
              <a:off x="7329141" y="362469"/>
              <a:ext cx="1022706" cy="830413"/>
            </a:xfrm>
            <a:custGeom>
              <a:rect b="b" l="l" r="r" t="t"/>
              <a:pathLst>
                <a:path extrusionOk="0" h="1544092" w="1901648">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4" name="Google Shape;204;p1"/>
            <p:cNvSpPr/>
            <p:nvPr/>
          </p:nvSpPr>
          <p:spPr>
            <a:xfrm>
              <a:off x="7479397" y="507863"/>
              <a:ext cx="275878" cy="490191"/>
            </a:xfrm>
            <a:custGeom>
              <a:rect b="b" l="l" r="r" t="t"/>
              <a:pathLst>
                <a:path extrusionOk="0" h="911475" w="512975">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05" name="Google Shape;205;p1"/>
            <p:cNvGrpSpPr/>
            <p:nvPr/>
          </p:nvGrpSpPr>
          <p:grpSpPr>
            <a:xfrm>
              <a:off x="7581570" y="507863"/>
              <a:ext cx="449624" cy="551756"/>
              <a:chOff x="6727477" y="1096947"/>
              <a:chExt cx="836044" cy="1025951"/>
            </a:xfrm>
          </p:grpSpPr>
          <p:sp>
            <p:nvSpPr>
              <p:cNvPr id="206" name="Google Shape;206;p1"/>
              <p:cNvSpPr/>
              <p:nvPr/>
            </p:nvSpPr>
            <p:spPr>
              <a:xfrm>
                <a:off x="7050546" y="1096947"/>
                <a:ext cx="512975" cy="1014176"/>
              </a:xfrm>
              <a:custGeom>
                <a:rect b="b" l="l" r="r" t="t"/>
                <a:pathLst>
                  <a:path extrusionOk="0" h="1014176" w="512975">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 name="Google Shape;207;p1"/>
              <p:cNvSpPr/>
              <p:nvPr/>
            </p:nvSpPr>
            <p:spPr>
              <a:xfrm>
                <a:off x="6727477" y="1609923"/>
                <a:ext cx="432531" cy="512975"/>
              </a:xfrm>
              <a:custGeom>
                <a:rect b="b" l="l" r="r" t="t"/>
                <a:pathLst>
                  <a:path extrusionOk="0" h="512975" w="432531">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08" name="Google Shape;208;p1"/>
            <p:cNvSpPr/>
            <p:nvPr/>
          </p:nvSpPr>
          <p:spPr>
            <a:xfrm>
              <a:off x="7755275" y="507863"/>
              <a:ext cx="222402" cy="439126"/>
            </a:xfrm>
            <a:custGeom>
              <a:rect b="b" l="l" r="r" t="t"/>
              <a:pathLst>
                <a:path extrusionOk="0" h="816522" w="413540">
                  <a:moveTo>
                    <a:pt x="0" y="0"/>
                  </a:moveTo>
                  <a:lnTo>
                    <a:pt x="0" y="512976"/>
                  </a:lnTo>
                  <a:lnTo>
                    <a:pt x="413541" y="81652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 name="Google Shape;209;p1"/>
            <p:cNvSpPr/>
            <p:nvPr/>
          </p:nvSpPr>
          <p:spPr>
            <a:xfrm>
              <a:off x="7918481" y="577354"/>
              <a:ext cx="207735" cy="40730"/>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 name="Google Shape;210;p1"/>
            <p:cNvSpPr/>
            <p:nvPr/>
          </p:nvSpPr>
          <p:spPr>
            <a:xfrm>
              <a:off x="7986379" y="855683"/>
              <a:ext cx="207735" cy="40730"/>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1" name="Google Shape;211;p1"/>
            <p:cNvSpPr/>
            <p:nvPr/>
          </p:nvSpPr>
          <p:spPr>
            <a:xfrm>
              <a:off x="8078706" y="664248"/>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2" name="Google Shape;212;p1"/>
            <p:cNvSpPr/>
            <p:nvPr/>
          </p:nvSpPr>
          <p:spPr>
            <a:xfrm>
              <a:off x="8078706" y="691415"/>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 name="Google Shape;213;p1"/>
            <p:cNvSpPr/>
            <p:nvPr/>
          </p:nvSpPr>
          <p:spPr>
            <a:xfrm>
              <a:off x="8078706" y="718541"/>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 name="Google Shape;214;p1"/>
            <p:cNvSpPr/>
            <p:nvPr/>
          </p:nvSpPr>
          <p:spPr>
            <a:xfrm>
              <a:off x="8078706" y="946989"/>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5" name="Google Shape;215;p1"/>
            <p:cNvSpPr/>
            <p:nvPr/>
          </p:nvSpPr>
          <p:spPr>
            <a:xfrm>
              <a:off x="8078706" y="974156"/>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 name="Google Shape;216;p1"/>
            <p:cNvSpPr/>
            <p:nvPr/>
          </p:nvSpPr>
          <p:spPr>
            <a:xfrm>
              <a:off x="8078706" y="1001323"/>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7" name="Google Shape;217;p1"/>
          <p:cNvGrpSpPr/>
          <p:nvPr/>
        </p:nvGrpSpPr>
        <p:grpSpPr>
          <a:xfrm>
            <a:off x="-215300" y="3851305"/>
            <a:ext cx="1694813" cy="830678"/>
            <a:chOff x="-215300" y="3851305"/>
            <a:chExt cx="1694813" cy="830678"/>
          </a:xfrm>
        </p:grpSpPr>
        <p:sp>
          <p:nvSpPr>
            <p:cNvPr id="218" name="Google Shape;218;p1"/>
            <p:cNvSpPr/>
            <p:nvPr/>
          </p:nvSpPr>
          <p:spPr>
            <a:xfrm>
              <a:off x="861887" y="3947362"/>
              <a:ext cx="215268" cy="422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19" name="Google Shape;219;p1"/>
            <p:cNvGrpSpPr/>
            <p:nvPr/>
          </p:nvGrpSpPr>
          <p:grpSpPr>
            <a:xfrm>
              <a:off x="861887" y="4031521"/>
              <a:ext cx="137882" cy="60495"/>
              <a:chOff x="1949580" y="3551527"/>
              <a:chExt cx="247410" cy="108551"/>
            </a:xfrm>
          </p:grpSpPr>
          <p:sp>
            <p:nvSpPr>
              <p:cNvPr id="220" name="Google Shape;220;p1"/>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 name="Google Shape;221;p1"/>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 name="Google Shape;222;p1"/>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23" name="Google Shape;223;p1"/>
            <p:cNvSpPr/>
            <p:nvPr/>
          </p:nvSpPr>
          <p:spPr>
            <a:xfrm>
              <a:off x="-85801" y="4070172"/>
              <a:ext cx="105708" cy="61151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 name="Google Shape;224;p1"/>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 name="Google Shape;225;p1"/>
            <p:cNvSpPr/>
            <p:nvPr/>
          </p:nvSpPr>
          <p:spPr>
            <a:xfrm>
              <a:off x="294020" y="4210340"/>
              <a:ext cx="105708" cy="471388"/>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 name="Google Shape;226;p1"/>
            <p:cNvSpPr/>
            <p:nvPr/>
          </p:nvSpPr>
          <p:spPr>
            <a:xfrm>
              <a:off x="483972" y="4070172"/>
              <a:ext cx="105708" cy="61151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 name="Google Shape;227;p1"/>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 name="Google Shape;228;p1"/>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9" name="Google Shape;229;p1"/>
            <p:cNvSpPr/>
            <p:nvPr/>
          </p:nvSpPr>
          <p:spPr>
            <a:xfrm>
              <a:off x="1053745" y="4472133"/>
              <a:ext cx="105708" cy="209553"/>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0" name="Google Shape;230;p1"/>
            <p:cNvSpPr/>
            <p:nvPr/>
          </p:nvSpPr>
          <p:spPr>
            <a:xfrm>
              <a:off x="1243698" y="4070172"/>
              <a:ext cx="105708" cy="61151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1" name="Google Shape;231;p1"/>
            <p:cNvSpPr/>
            <p:nvPr/>
          </p:nvSpPr>
          <p:spPr>
            <a:xfrm>
              <a:off x="-32968" y="4087783"/>
              <a:ext cx="1329498" cy="42016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2" name="Google Shape;232;p1"/>
            <p:cNvSpPr/>
            <p:nvPr/>
          </p:nvSpPr>
          <p:spPr>
            <a:xfrm>
              <a:off x="-61417" y="4059335"/>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3" name="Google Shape;233;p1"/>
            <p:cNvSpPr/>
            <p:nvPr/>
          </p:nvSpPr>
          <p:spPr>
            <a:xfrm>
              <a:off x="128536" y="4354614"/>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4" name="Google Shape;234;p1"/>
            <p:cNvSpPr/>
            <p:nvPr/>
          </p:nvSpPr>
          <p:spPr>
            <a:xfrm>
              <a:off x="318446" y="4189385"/>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5" name="Google Shape;235;p1"/>
            <p:cNvSpPr/>
            <p:nvPr/>
          </p:nvSpPr>
          <p:spPr>
            <a:xfrm>
              <a:off x="508356" y="4059335"/>
              <a:ext cx="56896" cy="56896"/>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6" name="Google Shape;236;p1"/>
            <p:cNvSpPr/>
            <p:nvPr/>
          </p:nvSpPr>
          <p:spPr>
            <a:xfrm>
              <a:off x="698309" y="4059335"/>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7" name="Google Shape;237;p1"/>
            <p:cNvSpPr/>
            <p:nvPr/>
          </p:nvSpPr>
          <p:spPr>
            <a:xfrm>
              <a:off x="893172" y="4336368"/>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8" name="Google Shape;238;p1"/>
            <p:cNvSpPr/>
            <p:nvPr/>
          </p:nvSpPr>
          <p:spPr>
            <a:xfrm>
              <a:off x="1078172" y="4457909"/>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9" name="Google Shape;239;p1"/>
            <p:cNvSpPr/>
            <p:nvPr/>
          </p:nvSpPr>
          <p:spPr>
            <a:xfrm>
              <a:off x="1268082" y="4046253"/>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0" name="Google Shape;240;p1"/>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cxnSp>
        <p:nvCxnSpPr>
          <p:cNvPr id="241" name="Google Shape;241;p1"/>
          <p:cNvCxnSpPr/>
          <p:nvPr/>
        </p:nvCxnSpPr>
        <p:spPr>
          <a:xfrm>
            <a:off x="3447900" y="4032000"/>
            <a:ext cx="2248200" cy="11700"/>
          </a:xfrm>
          <a:prstGeom prst="straightConnector1">
            <a:avLst/>
          </a:prstGeom>
          <a:noFill/>
          <a:ln cap="flat" cmpd="sng" w="19050">
            <a:solidFill>
              <a:schemeClr val="dk1"/>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
          <p:cNvSpPr txBox="1"/>
          <p:nvPr>
            <p:ph idx="1" type="subTitle"/>
          </p:nvPr>
        </p:nvSpPr>
        <p:spPr>
          <a:xfrm>
            <a:off x="720075" y="1229900"/>
            <a:ext cx="7563300" cy="317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US"/>
              <a:t>is a 1st step in analyzing the data from an experiment. </a:t>
            </a:r>
            <a:endParaRPr/>
          </a:p>
          <a:p>
            <a:pPr indent="0" lvl="0" marL="0" rtl="0" algn="l">
              <a:lnSpc>
                <a:spcPct val="115000"/>
              </a:lnSpc>
              <a:spcBef>
                <a:spcPts val="0"/>
              </a:spcBef>
              <a:spcAft>
                <a:spcPts val="0"/>
              </a:spcAft>
              <a:buSzPts val="1400"/>
              <a:buNone/>
            </a:pPr>
            <a:r>
              <a:rPr lang="en-US"/>
              <a:t>Types of analysis: </a:t>
            </a:r>
            <a:endParaRPr/>
          </a:p>
          <a:p>
            <a:pPr indent="0" lvl="0" marL="146050" rtl="0" algn="l">
              <a:lnSpc>
                <a:spcPct val="115000"/>
              </a:lnSpc>
              <a:spcBef>
                <a:spcPts val="0"/>
              </a:spcBef>
              <a:spcAft>
                <a:spcPts val="0"/>
              </a:spcAft>
              <a:buSzPts val="1300"/>
              <a:buNone/>
            </a:pPr>
            <a:r>
              <a:rPr b="1" lang="en-US" sz="1300"/>
              <a:t>univariate/multivariate non-graphical</a:t>
            </a:r>
            <a:r>
              <a:rPr lang="en-US" sz="1300"/>
              <a:t>.</a:t>
            </a:r>
            <a:endParaRPr sz="1300"/>
          </a:p>
          <a:p>
            <a:pPr indent="0" lvl="0" marL="457200" rtl="0" algn="l">
              <a:lnSpc>
                <a:spcPct val="115000"/>
              </a:lnSpc>
              <a:spcBef>
                <a:spcPts val="0"/>
              </a:spcBef>
              <a:spcAft>
                <a:spcPts val="0"/>
              </a:spcAft>
              <a:buSzPts val="1400"/>
              <a:buNone/>
            </a:pPr>
            <a:r>
              <a:t/>
            </a:r>
            <a:endParaRPr sz="1000"/>
          </a:p>
          <a:p>
            <a:pPr indent="0" lvl="0" marL="146050" rtl="0" algn="l">
              <a:lnSpc>
                <a:spcPct val="115000"/>
              </a:lnSpc>
              <a:spcBef>
                <a:spcPts val="0"/>
              </a:spcBef>
              <a:spcAft>
                <a:spcPts val="0"/>
              </a:spcAft>
              <a:buSzPts val="1300"/>
              <a:buNone/>
            </a:pPr>
            <a:r>
              <a:rPr b="1" lang="en-US" sz="1300"/>
              <a:t>univariate/multivariate non-graphical</a:t>
            </a:r>
            <a:r>
              <a:rPr lang="en-US" sz="1300"/>
              <a:t>.</a:t>
            </a:r>
            <a:endParaRPr sz="1300"/>
          </a:p>
          <a:p>
            <a:pPr indent="0" lvl="0" marL="457200" rtl="0" algn="l">
              <a:lnSpc>
                <a:spcPct val="115000"/>
              </a:lnSpc>
              <a:spcBef>
                <a:spcPts val="0"/>
              </a:spcBef>
              <a:spcAft>
                <a:spcPts val="0"/>
              </a:spcAft>
              <a:buSzPts val="1400"/>
              <a:buNone/>
            </a:pPr>
            <a:r>
              <a:t/>
            </a:r>
            <a:endParaRPr sz="1000"/>
          </a:p>
          <a:p>
            <a:pPr indent="-285750" lvl="0" marL="742950" rtl="0" algn="l">
              <a:lnSpc>
                <a:spcPct val="115000"/>
              </a:lnSpc>
              <a:spcBef>
                <a:spcPts val="0"/>
              </a:spcBef>
              <a:spcAft>
                <a:spcPts val="0"/>
              </a:spcAft>
              <a:buSzPts val="1400"/>
              <a:buFont typeface="Arial"/>
              <a:buChar char="•"/>
            </a:pPr>
            <a:r>
              <a:rPr b="1" lang="en-US"/>
              <a:t>Univariate</a:t>
            </a:r>
            <a:r>
              <a:rPr lang="en-US"/>
              <a:t> methods consider one variable at a time, while </a:t>
            </a:r>
            <a:r>
              <a:rPr b="1" lang="en-US"/>
              <a:t>multivariate</a:t>
            </a:r>
            <a:r>
              <a:rPr lang="en-US"/>
              <a:t> methods look at two or more variables at a time to explore relationships. </a:t>
            </a:r>
            <a:endParaRPr/>
          </a:p>
          <a:p>
            <a:pPr indent="-285750" lvl="0" marL="742950" rtl="0" algn="l">
              <a:lnSpc>
                <a:spcPct val="115000"/>
              </a:lnSpc>
              <a:spcBef>
                <a:spcPts val="0"/>
              </a:spcBef>
              <a:spcAft>
                <a:spcPts val="0"/>
              </a:spcAft>
              <a:buSzPts val="1400"/>
              <a:buFont typeface="Arial"/>
              <a:buChar char="•"/>
            </a:pPr>
            <a:r>
              <a:rPr b="1" lang="en-US"/>
              <a:t>Non-graphical</a:t>
            </a:r>
            <a:r>
              <a:rPr lang="en-US"/>
              <a:t> methods: calculation of summary statistics; </a:t>
            </a:r>
            <a:r>
              <a:rPr b="1" lang="en-US"/>
              <a:t>graphical</a:t>
            </a:r>
            <a:r>
              <a:rPr lang="en-US"/>
              <a:t> methods summarize the data in a diagrammatic way. </a:t>
            </a:r>
            <a:endParaRPr/>
          </a:p>
        </p:txBody>
      </p:sp>
      <p:sp>
        <p:nvSpPr>
          <p:cNvPr id="247" name="Google Shape;247;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Exploratory data analysis (EDA)</a:t>
            </a:r>
            <a:endParaRPr/>
          </a:p>
        </p:txBody>
      </p:sp>
      <p:grpSp>
        <p:nvGrpSpPr>
          <p:cNvPr id="248" name="Google Shape;248;p2"/>
          <p:cNvGrpSpPr/>
          <p:nvPr/>
        </p:nvGrpSpPr>
        <p:grpSpPr>
          <a:xfrm>
            <a:off x="350755" y="4018677"/>
            <a:ext cx="902056" cy="901976"/>
            <a:chOff x="4246593" y="503852"/>
            <a:chExt cx="902056" cy="901976"/>
          </a:xfrm>
        </p:grpSpPr>
        <p:grpSp>
          <p:nvGrpSpPr>
            <p:cNvPr id="249" name="Google Shape;249;p2"/>
            <p:cNvGrpSpPr/>
            <p:nvPr/>
          </p:nvGrpSpPr>
          <p:grpSpPr>
            <a:xfrm>
              <a:off x="4246593" y="503900"/>
              <a:ext cx="901831" cy="901928"/>
              <a:chOff x="5998919" y="3270921"/>
              <a:chExt cx="1426046" cy="1426198"/>
            </a:xfrm>
          </p:grpSpPr>
          <p:sp>
            <p:nvSpPr>
              <p:cNvPr id="250" name="Google Shape;250;p2"/>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1" name="Google Shape;251;p2"/>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52" name="Google Shape;252;p2"/>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3" name="Google Shape;253;p2"/>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54" name="Google Shape;254;p2"/>
            <p:cNvGrpSpPr/>
            <p:nvPr/>
          </p:nvGrpSpPr>
          <p:grpSpPr>
            <a:xfrm>
              <a:off x="4246593" y="503852"/>
              <a:ext cx="901928" cy="901976"/>
              <a:chOff x="5998919" y="3270845"/>
              <a:chExt cx="1426198" cy="1426274"/>
            </a:xfrm>
          </p:grpSpPr>
          <p:sp>
            <p:nvSpPr>
              <p:cNvPr id="255" name="Google Shape;255;p2"/>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6" name="Google Shape;256;p2"/>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7" name="Google Shape;257;p2"/>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
          <p:cNvSpPr txBox="1"/>
          <p:nvPr>
            <p:ph type="title"/>
          </p:nvPr>
        </p:nvSpPr>
        <p:spPr>
          <a:xfrm>
            <a:off x="3151900" y="1636350"/>
            <a:ext cx="4150500" cy="1302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Univariate non-graphical EDA</a:t>
            </a:r>
            <a:endParaRPr/>
          </a:p>
        </p:txBody>
      </p:sp>
      <p:sp>
        <p:nvSpPr>
          <p:cNvPr id="263" name="Google Shape;263;p3"/>
          <p:cNvSpPr txBox="1"/>
          <p:nvPr>
            <p:ph idx="2" type="title"/>
          </p:nvPr>
        </p:nvSpPr>
        <p:spPr>
          <a:xfrm>
            <a:off x="1475300" y="1690000"/>
            <a:ext cx="1294500" cy="908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US"/>
              <a:t>01.</a:t>
            </a:r>
            <a:endParaRPr/>
          </a:p>
        </p:txBody>
      </p:sp>
      <p:grpSp>
        <p:nvGrpSpPr>
          <p:cNvPr id="264" name="Google Shape;264;p3"/>
          <p:cNvGrpSpPr/>
          <p:nvPr/>
        </p:nvGrpSpPr>
        <p:grpSpPr>
          <a:xfrm>
            <a:off x="7783346" y="490666"/>
            <a:ext cx="901968" cy="901968"/>
            <a:chOff x="1350404" y="-3124999"/>
            <a:chExt cx="1570279" cy="1570279"/>
          </a:xfrm>
        </p:grpSpPr>
        <p:sp>
          <p:nvSpPr>
            <p:cNvPr id="265" name="Google Shape;265;p3"/>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6" name="Google Shape;266;p3"/>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7" name="Google Shape;267;p3"/>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8" name="Google Shape;268;p3"/>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69" name="Google Shape;269;p3"/>
          <p:cNvGrpSpPr/>
          <p:nvPr/>
        </p:nvGrpSpPr>
        <p:grpSpPr>
          <a:xfrm>
            <a:off x="713029" y="3447254"/>
            <a:ext cx="1266652" cy="1056012"/>
            <a:chOff x="5378191" y="1701500"/>
            <a:chExt cx="611171" cy="509535"/>
          </a:xfrm>
        </p:grpSpPr>
        <p:sp>
          <p:nvSpPr>
            <p:cNvPr id="270" name="Google Shape;270;p3"/>
            <p:cNvSpPr/>
            <p:nvPr/>
          </p:nvSpPr>
          <p:spPr>
            <a:xfrm>
              <a:off x="5378191" y="1701500"/>
              <a:ext cx="611171" cy="509535"/>
            </a:xfrm>
            <a:custGeom>
              <a:rect b="b" l="l" r="r" t="t"/>
              <a:pathLst>
                <a:path extrusionOk="0" h="1056032" w="1266676">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 name="Google Shape;271;p3"/>
            <p:cNvSpPr/>
            <p:nvPr/>
          </p:nvSpPr>
          <p:spPr>
            <a:xfrm>
              <a:off x="5497928" y="1776815"/>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 name="Google Shape;272;p3"/>
            <p:cNvSpPr/>
            <p:nvPr/>
          </p:nvSpPr>
          <p:spPr>
            <a:xfrm>
              <a:off x="5608451" y="1776815"/>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 name="Google Shape;273;p3"/>
            <p:cNvSpPr/>
            <p:nvPr/>
          </p:nvSpPr>
          <p:spPr>
            <a:xfrm>
              <a:off x="5719011" y="1776815"/>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4" name="Google Shape;274;p3"/>
            <p:cNvSpPr/>
            <p:nvPr/>
          </p:nvSpPr>
          <p:spPr>
            <a:xfrm>
              <a:off x="5829571" y="1776815"/>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 name="Google Shape;275;p3"/>
            <p:cNvSpPr/>
            <p:nvPr/>
          </p:nvSpPr>
          <p:spPr>
            <a:xfrm>
              <a:off x="5497928" y="1882549"/>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 name="Google Shape;276;p3"/>
            <p:cNvSpPr/>
            <p:nvPr/>
          </p:nvSpPr>
          <p:spPr>
            <a:xfrm>
              <a:off x="5608451" y="1882549"/>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7" name="Google Shape;277;p3"/>
            <p:cNvSpPr/>
            <p:nvPr/>
          </p:nvSpPr>
          <p:spPr>
            <a:xfrm>
              <a:off x="5719011" y="1882549"/>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8" name="Google Shape;278;p3"/>
            <p:cNvSpPr/>
            <p:nvPr/>
          </p:nvSpPr>
          <p:spPr>
            <a:xfrm>
              <a:off x="5829571" y="1882549"/>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9" name="Google Shape;279;p3"/>
            <p:cNvSpPr/>
            <p:nvPr/>
          </p:nvSpPr>
          <p:spPr>
            <a:xfrm>
              <a:off x="5497928" y="1988320"/>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0" name="Google Shape;280;p3"/>
            <p:cNvSpPr/>
            <p:nvPr/>
          </p:nvSpPr>
          <p:spPr>
            <a:xfrm>
              <a:off x="5608451" y="1988320"/>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 name="Google Shape;281;p3"/>
            <p:cNvSpPr/>
            <p:nvPr/>
          </p:nvSpPr>
          <p:spPr>
            <a:xfrm>
              <a:off x="5719011" y="198832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2" name="Google Shape;282;p3"/>
            <p:cNvSpPr/>
            <p:nvPr/>
          </p:nvSpPr>
          <p:spPr>
            <a:xfrm>
              <a:off x="5829571" y="198832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3" name="Google Shape;283;p3"/>
            <p:cNvSpPr/>
            <p:nvPr/>
          </p:nvSpPr>
          <p:spPr>
            <a:xfrm>
              <a:off x="5497928" y="2094090"/>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4" name="Google Shape;284;p3"/>
            <p:cNvSpPr/>
            <p:nvPr/>
          </p:nvSpPr>
          <p:spPr>
            <a:xfrm>
              <a:off x="5608451" y="2094090"/>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5" name="Google Shape;285;p3"/>
            <p:cNvSpPr/>
            <p:nvPr/>
          </p:nvSpPr>
          <p:spPr>
            <a:xfrm>
              <a:off x="5719011" y="209409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6" name="Google Shape;286;p3"/>
            <p:cNvSpPr/>
            <p:nvPr/>
          </p:nvSpPr>
          <p:spPr>
            <a:xfrm>
              <a:off x="5829571" y="209409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87" name="Google Shape;287;p3"/>
          <p:cNvSpPr/>
          <p:nvPr/>
        </p:nvSpPr>
        <p:spPr>
          <a:xfrm>
            <a:off x="2060027" y="3287602"/>
            <a:ext cx="547063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focuses on understanding the distribution of a single variable within a dataset.</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Data</a:t>
            </a:r>
            <a:endParaRPr/>
          </a:p>
        </p:txBody>
      </p:sp>
      <p:grpSp>
        <p:nvGrpSpPr>
          <p:cNvPr id="293" name="Google Shape;293;p4"/>
          <p:cNvGrpSpPr/>
          <p:nvPr/>
        </p:nvGrpSpPr>
        <p:grpSpPr>
          <a:xfrm>
            <a:off x="350755" y="4018677"/>
            <a:ext cx="902056" cy="901976"/>
            <a:chOff x="4246593" y="503852"/>
            <a:chExt cx="902056" cy="901976"/>
          </a:xfrm>
        </p:grpSpPr>
        <p:grpSp>
          <p:nvGrpSpPr>
            <p:cNvPr id="294" name="Google Shape;294;p4"/>
            <p:cNvGrpSpPr/>
            <p:nvPr/>
          </p:nvGrpSpPr>
          <p:grpSpPr>
            <a:xfrm>
              <a:off x="4246593" y="503900"/>
              <a:ext cx="901831" cy="901928"/>
              <a:chOff x="5998919" y="3270921"/>
              <a:chExt cx="1426046" cy="1426198"/>
            </a:xfrm>
          </p:grpSpPr>
          <p:sp>
            <p:nvSpPr>
              <p:cNvPr id="295" name="Google Shape;295;p4"/>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6" name="Google Shape;296;p4"/>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97" name="Google Shape;297;p4"/>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8" name="Google Shape;298;p4"/>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99" name="Google Shape;299;p4"/>
            <p:cNvGrpSpPr/>
            <p:nvPr/>
          </p:nvGrpSpPr>
          <p:grpSpPr>
            <a:xfrm>
              <a:off x="4246593" y="503852"/>
              <a:ext cx="901928" cy="901976"/>
              <a:chOff x="5998919" y="3270845"/>
              <a:chExt cx="1426198" cy="1426274"/>
            </a:xfrm>
          </p:grpSpPr>
          <p:sp>
            <p:nvSpPr>
              <p:cNvPr id="300" name="Google Shape;300;p4"/>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1" name="Google Shape;301;p4"/>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2" name="Google Shape;302;p4"/>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aphicFrame>
        <p:nvGraphicFramePr>
          <p:cNvPr id="303" name="Google Shape;303;p4"/>
          <p:cNvGraphicFramePr/>
          <p:nvPr/>
        </p:nvGraphicFramePr>
        <p:xfrm>
          <a:off x="1595188" y="1802600"/>
          <a:ext cx="3000000" cy="3000000"/>
        </p:xfrm>
        <a:graphic>
          <a:graphicData uri="http://schemas.openxmlformats.org/drawingml/2006/table">
            <a:tbl>
              <a:tblPr>
                <a:noFill/>
                <a:tableStyleId>{7DC3741F-BB2F-4768-A211-A80B8B564F9D}</a:tableStyleId>
              </a:tblPr>
              <a:tblGrid>
                <a:gridCol w="3163225"/>
                <a:gridCol w="3163225"/>
              </a:tblGrid>
              <a:tr h="57020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solidFill>
                            <a:srgbClr val="17175A"/>
                          </a:solidFill>
                          <a:latin typeface="Passion One"/>
                          <a:ea typeface="Passion One"/>
                          <a:cs typeface="Passion One"/>
                          <a:sym typeface="Passion One"/>
                        </a:rPr>
                        <a:t>Categorical</a:t>
                      </a:r>
                      <a:endParaRPr b="1" sz="1600" u="none" cap="none" strike="noStrike">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solidFill>
                            <a:srgbClr val="17175A"/>
                          </a:solidFill>
                          <a:latin typeface="Passion One"/>
                          <a:ea typeface="Passion One"/>
                          <a:cs typeface="Passion One"/>
                          <a:sym typeface="Passion One"/>
                        </a:rPr>
                        <a:t>Quantitative</a:t>
                      </a:r>
                      <a:endParaRPr b="1" sz="1600" u="none" cap="none" strike="noStrike">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470950">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solidFill>
                            <a:srgbClr val="17175A"/>
                          </a:solidFill>
                          <a:latin typeface="Inter"/>
                          <a:ea typeface="Inter"/>
                          <a:cs typeface="Inter"/>
                          <a:sym typeface="Inter"/>
                        </a:rPr>
                        <a:t>The range of values and the frequency of occurrence for each value</a:t>
                      </a:r>
                      <a:endParaRPr sz="1300" u="none" cap="none" strike="noStrike">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solidFill>
                            <a:srgbClr val="17175A"/>
                          </a:solidFill>
                          <a:latin typeface="Inter"/>
                          <a:ea typeface="Inter"/>
                          <a:cs typeface="Inter"/>
                          <a:sym typeface="Inter"/>
                        </a:rPr>
                        <a:t>(discrete and continuous data)</a:t>
                      </a:r>
                      <a:endParaRPr sz="1300" u="none" cap="none" strike="noStrike">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461525">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solidFill>
                            <a:srgbClr val="17175A"/>
                          </a:solidFill>
                          <a:latin typeface="Inter"/>
                          <a:ea typeface="Inter"/>
                          <a:cs typeface="Inter"/>
                          <a:sym typeface="Inter"/>
                        </a:rPr>
                        <a:t>tabulation of the frequency of each category</a:t>
                      </a:r>
                      <a:endParaRPr sz="1300" u="none" cap="none" strike="noStrike">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solidFill>
                            <a:srgbClr val="17175A"/>
                          </a:solidFill>
                          <a:latin typeface="Inter"/>
                          <a:ea typeface="Inter"/>
                          <a:cs typeface="Inter"/>
                          <a:sym typeface="Inter"/>
                        </a:rPr>
                        <a:t>Make preliminary assessments about the population distribution using the data of the observed sample.</a:t>
                      </a:r>
                      <a:endParaRPr sz="1300" u="none" cap="none" strike="noStrike">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
          <p:cNvSpPr txBox="1"/>
          <p:nvPr>
            <p:ph type="title"/>
          </p:nvPr>
        </p:nvSpPr>
        <p:spPr>
          <a:xfrm>
            <a:off x="683910" y="765040"/>
            <a:ext cx="3936300" cy="115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US" sz="3200"/>
              <a:t>Frequency Tabulation</a:t>
            </a:r>
            <a:endParaRPr/>
          </a:p>
        </p:txBody>
      </p:sp>
      <p:sp>
        <p:nvSpPr>
          <p:cNvPr id="309" name="Google Shape;309;p5"/>
          <p:cNvSpPr txBox="1"/>
          <p:nvPr>
            <p:ph idx="1" type="body"/>
          </p:nvPr>
        </p:nvSpPr>
        <p:spPr>
          <a:xfrm>
            <a:off x="1181750" y="1656320"/>
            <a:ext cx="6478890" cy="222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SzPts val="1400"/>
              <a:buNone/>
            </a:pPr>
            <a:r>
              <a:rPr lang="en-US"/>
              <a:t>Frequency tabulation is the process of counting occurrences of each category within a categorical variable, providing a clear overview of the data distribution.</a:t>
            </a:r>
            <a:endParaRPr/>
          </a:p>
        </p:txBody>
      </p:sp>
      <p:grpSp>
        <p:nvGrpSpPr>
          <p:cNvPr id="310" name="Google Shape;310;p5"/>
          <p:cNvGrpSpPr/>
          <p:nvPr/>
        </p:nvGrpSpPr>
        <p:grpSpPr>
          <a:xfrm>
            <a:off x="7223732" y="4541809"/>
            <a:ext cx="1360765" cy="666952"/>
            <a:chOff x="-215300" y="3851305"/>
            <a:chExt cx="1694813" cy="830678"/>
          </a:xfrm>
        </p:grpSpPr>
        <p:sp>
          <p:nvSpPr>
            <p:cNvPr id="311" name="Google Shape;311;p5"/>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2" name="Google Shape;312;p5"/>
            <p:cNvGrpSpPr/>
            <p:nvPr/>
          </p:nvGrpSpPr>
          <p:grpSpPr>
            <a:xfrm>
              <a:off x="861887" y="4031521"/>
              <a:ext cx="137882" cy="60495"/>
              <a:chOff x="1949580" y="3551527"/>
              <a:chExt cx="247410" cy="108551"/>
            </a:xfrm>
          </p:grpSpPr>
          <p:sp>
            <p:nvSpPr>
              <p:cNvPr id="313" name="Google Shape;313;p5"/>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 name="Google Shape;314;p5"/>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 name="Google Shape;315;p5"/>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16" name="Google Shape;316;p5"/>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7" name="Google Shape;317;p5"/>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8" name="Google Shape;318;p5"/>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9" name="Google Shape;319;p5"/>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 name="Google Shape;320;p5"/>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 name="Google Shape;321;p5"/>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2" name="Google Shape;322;p5"/>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3" name="Google Shape;323;p5"/>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4" name="Google Shape;324;p5"/>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5" name="Google Shape;325;p5"/>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6" name="Google Shape;326;p5"/>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7" name="Google Shape;327;p5"/>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8" name="Google Shape;328;p5"/>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9" name="Google Shape;329;p5"/>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0" name="Google Shape;330;p5"/>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 name="Google Shape;331;p5"/>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 name="Google Shape;332;p5"/>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3" name="Google Shape;333;p5"/>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1:</a:t>
            </a:r>
            <a:endParaRPr/>
          </a:p>
        </p:txBody>
      </p:sp>
      <p:sp>
        <p:nvSpPr>
          <p:cNvPr id="339" name="Google Shape;339;p6"/>
          <p:cNvSpPr/>
          <p:nvPr/>
        </p:nvSpPr>
        <p:spPr>
          <a:xfrm>
            <a:off x="987973" y="1076229"/>
            <a:ext cx="2659118" cy="1578894"/>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1400" u="none" cap="none" strike="noStrike">
                <a:solidFill>
                  <a:schemeClr val="dk1"/>
                </a:solidFill>
                <a:latin typeface="Inter"/>
                <a:ea typeface="Inter"/>
                <a:cs typeface="Inter"/>
                <a:sym typeface="Inter"/>
              </a:rPr>
              <a:t>A survey was conducted among 50 individuals, asking them about their favorite streaming service. The responses were recorded as follows:</a:t>
            </a:r>
            <a:endParaRPr/>
          </a:p>
        </p:txBody>
      </p:sp>
      <p:pic>
        <p:nvPicPr>
          <p:cNvPr id="340" name="Google Shape;340;p6"/>
          <p:cNvPicPr preferRelativeResize="0"/>
          <p:nvPr/>
        </p:nvPicPr>
        <p:blipFill rotWithShape="1">
          <a:blip r:embed="rId3">
            <a:alphaModFix/>
          </a:blip>
          <a:srcRect b="0" l="0" r="0" t="0"/>
          <a:stretch/>
        </p:blipFill>
        <p:spPr>
          <a:xfrm>
            <a:off x="4082612" y="360144"/>
            <a:ext cx="4762500" cy="4486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1:</a:t>
            </a:r>
            <a:endParaRPr/>
          </a:p>
        </p:txBody>
      </p:sp>
      <p:sp>
        <p:nvSpPr>
          <p:cNvPr id="346" name="Google Shape;346;p7"/>
          <p:cNvSpPr/>
          <p:nvPr/>
        </p:nvSpPr>
        <p:spPr>
          <a:xfrm>
            <a:off x="987973" y="1076229"/>
            <a:ext cx="2659118" cy="1835374"/>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1400" u="none" cap="none" strike="noStrike">
                <a:solidFill>
                  <a:schemeClr val="dk1"/>
                </a:solidFill>
                <a:latin typeface="Inter"/>
                <a:ea typeface="Inter"/>
                <a:cs typeface="Inter"/>
                <a:sym typeface="Inter"/>
              </a:rPr>
              <a:t>• What is the most preferred streaming service?</a:t>
            </a:r>
            <a:endParaRPr/>
          </a:p>
          <a:p>
            <a:pPr indent="0" lvl="0" marL="0" marR="0" rtl="0" algn="l">
              <a:lnSpc>
                <a:spcPct val="115000"/>
              </a:lnSpc>
              <a:spcBef>
                <a:spcPts val="1000"/>
              </a:spcBef>
              <a:spcAft>
                <a:spcPts val="0"/>
              </a:spcAft>
              <a:buNone/>
            </a:pPr>
            <a:r>
              <a:rPr b="0" i="0" lang="en-US" sz="1400" u="none" cap="none" strike="noStrike">
                <a:solidFill>
                  <a:schemeClr val="dk1"/>
                </a:solidFill>
                <a:latin typeface="Inter"/>
                <a:ea typeface="Inter"/>
                <a:cs typeface="Inter"/>
                <a:sym typeface="Inter"/>
              </a:rPr>
              <a:t>• What percentage of respondents chose Hulu?</a:t>
            </a:r>
            <a:endParaRPr/>
          </a:p>
          <a:p>
            <a:pPr indent="0" lvl="0" marL="0" marR="0" rtl="0" algn="l">
              <a:lnSpc>
                <a:spcPct val="115000"/>
              </a:lnSpc>
              <a:spcBef>
                <a:spcPts val="1000"/>
              </a:spcBef>
              <a:spcAft>
                <a:spcPts val="0"/>
              </a:spcAft>
              <a:buNone/>
            </a:pPr>
            <a:r>
              <a:rPr b="0" i="0" lang="en-US" sz="1400" u="none" cap="none" strike="noStrike">
                <a:solidFill>
                  <a:schemeClr val="dk1"/>
                </a:solidFill>
                <a:latin typeface="Inter"/>
                <a:ea typeface="Inter"/>
                <a:cs typeface="Inter"/>
                <a:sym typeface="Inter"/>
              </a:rPr>
              <a:t>• What is the total number of unique streaming services?</a:t>
            </a:r>
            <a:endParaRPr/>
          </a:p>
        </p:txBody>
      </p:sp>
      <p:pic>
        <p:nvPicPr>
          <p:cNvPr id="347" name="Google Shape;347;p7"/>
          <p:cNvPicPr preferRelativeResize="0"/>
          <p:nvPr/>
        </p:nvPicPr>
        <p:blipFill rotWithShape="1">
          <a:blip r:embed="rId3">
            <a:alphaModFix/>
          </a:blip>
          <a:srcRect b="0" l="0" r="0" t="0"/>
          <a:stretch/>
        </p:blipFill>
        <p:spPr>
          <a:xfrm>
            <a:off x="4082612" y="360144"/>
            <a:ext cx="4762500" cy="4486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US"/>
              <a:t>1. Frequency Table</a:t>
            </a:r>
            <a:br>
              <a:rPr lang="en-US"/>
            </a:br>
            <a:endParaRPr/>
          </a:p>
        </p:txBody>
      </p:sp>
      <p:pic>
        <p:nvPicPr>
          <p:cNvPr id="353" name="Google Shape;353;p8"/>
          <p:cNvPicPr preferRelativeResize="0"/>
          <p:nvPr/>
        </p:nvPicPr>
        <p:blipFill rotWithShape="1">
          <a:blip r:embed="rId3">
            <a:alphaModFix/>
          </a:blip>
          <a:srcRect b="0" l="0" r="0" t="0"/>
          <a:stretch/>
        </p:blipFill>
        <p:spPr>
          <a:xfrm>
            <a:off x="1600200" y="1719897"/>
            <a:ext cx="5943600" cy="1703705"/>
          </a:xfrm>
          <a:prstGeom prst="rect">
            <a:avLst/>
          </a:prstGeom>
          <a:noFill/>
          <a:ln>
            <a:noFill/>
          </a:ln>
        </p:spPr>
      </p:pic>
      <p:sp>
        <p:nvSpPr>
          <p:cNvPr id="354" name="Google Shape;354;p8"/>
          <p:cNvSpPr/>
          <p:nvPr/>
        </p:nvSpPr>
        <p:spPr>
          <a:xfrm>
            <a:off x="1697420" y="1180975"/>
            <a:ext cx="4572000" cy="55335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rgbClr val="000000"/>
              </a:buClr>
              <a:buSzPts val="1000"/>
              <a:buFont typeface="Noto Sans Symbols"/>
              <a:buChar char="∙"/>
            </a:pPr>
            <a:r>
              <a:rPr b="0" i="0" lang="en-US" sz="1400" u="none" cap="none" strike="noStrike">
                <a:solidFill>
                  <a:srgbClr val="000000"/>
                </a:solidFill>
                <a:latin typeface="Times New Roman"/>
                <a:ea typeface="Times New Roman"/>
                <a:cs typeface="Times New Roman"/>
                <a:sym typeface="Times New Roman"/>
              </a:rPr>
              <a:t>This table shows the </a:t>
            </a:r>
            <a:r>
              <a:rPr b="1" i="0" lang="en-US" sz="1400" u="none" cap="none" strike="noStrike">
                <a:solidFill>
                  <a:srgbClr val="000000"/>
                </a:solidFill>
                <a:latin typeface="Times New Roman"/>
                <a:ea typeface="Times New Roman"/>
                <a:cs typeface="Times New Roman"/>
                <a:sym typeface="Times New Roman"/>
              </a:rPr>
              <a:t>count of responses</a:t>
            </a:r>
            <a:r>
              <a:rPr b="0" i="0" lang="en-US" sz="1400" u="none" cap="none" strike="noStrike">
                <a:solidFill>
                  <a:srgbClr val="000000"/>
                </a:solidFill>
                <a:latin typeface="Times New Roman"/>
                <a:ea typeface="Times New Roman"/>
                <a:cs typeface="Times New Roman"/>
                <a:sym typeface="Times New Roman"/>
              </a:rPr>
              <a:t> for each streaming service.</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US"/>
              <a:t>2. Proportion Table</a:t>
            </a:r>
            <a:br>
              <a:rPr b="1" lang="en-US"/>
            </a:br>
            <a:endParaRPr/>
          </a:p>
        </p:txBody>
      </p:sp>
      <p:sp>
        <p:nvSpPr>
          <p:cNvPr id="360" name="Google Shape;360;p9"/>
          <p:cNvSpPr/>
          <p:nvPr/>
        </p:nvSpPr>
        <p:spPr>
          <a:xfrm>
            <a:off x="1835696" y="1131590"/>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This table shows the </a:t>
            </a:r>
            <a:r>
              <a:rPr b="1" i="0" lang="en-US" sz="1400" u="none" cap="none" strike="noStrike">
                <a:solidFill>
                  <a:srgbClr val="000000"/>
                </a:solidFill>
                <a:latin typeface="Times New Roman"/>
                <a:ea typeface="Times New Roman"/>
                <a:cs typeface="Times New Roman"/>
                <a:sym typeface="Times New Roman"/>
              </a:rPr>
              <a:t>relative frequency (percentage)</a:t>
            </a:r>
            <a:r>
              <a:rPr b="0" i="0" lang="en-US" sz="1400" u="none" cap="none" strike="noStrike">
                <a:solidFill>
                  <a:srgbClr val="000000"/>
                </a:solidFill>
                <a:latin typeface="Times New Roman"/>
                <a:ea typeface="Times New Roman"/>
                <a:cs typeface="Times New Roman"/>
                <a:sym typeface="Times New Roman"/>
              </a:rPr>
              <a:t> of each platform.</a:t>
            </a:r>
            <a:endParaRPr/>
          </a:p>
        </p:txBody>
      </p:sp>
      <p:pic>
        <p:nvPicPr>
          <p:cNvPr id="361" name="Google Shape;361;p9"/>
          <p:cNvPicPr preferRelativeResize="0"/>
          <p:nvPr/>
        </p:nvPicPr>
        <p:blipFill rotWithShape="1">
          <a:blip r:embed="rId3">
            <a:alphaModFix/>
          </a:blip>
          <a:srcRect b="0" l="0" r="0" t="23444"/>
          <a:stretch/>
        </p:blipFill>
        <p:spPr>
          <a:xfrm>
            <a:off x="1421524" y="2042226"/>
            <a:ext cx="5943600" cy="17106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0"/>
          <p:cNvSpPr/>
          <p:nvPr/>
        </p:nvSpPr>
        <p:spPr>
          <a:xfrm>
            <a:off x="956441" y="1231800"/>
            <a:ext cx="5901559" cy="243470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400" u="none" cap="none" strike="noStrike">
                <a:solidFill>
                  <a:schemeClr val="dk1"/>
                </a:solidFill>
                <a:latin typeface="Inter"/>
                <a:ea typeface="Inter"/>
                <a:cs typeface="Inter"/>
                <a:sym typeface="Inter"/>
              </a:rPr>
              <a:t>·  What is the most preferred streaming service?</a:t>
            </a:r>
            <a:endParaRPr/>
          </a:p>
          <a:p>
            <a:pPr indent="-342900" lvl="0" marL="342900" marR="0" rtl="0" algn="l">
              <a:lnSpc>
                <a:spcPct val="107000"/>
              </a:lnSpc>
              <a:spcBef>
                <a:spcPts val="800"/>
              </a:spcBef>
              <a:spcAft>
                <a:spcPts val="0"/>
              </a:spcAft>
              <a:buClr>
                <a:srgbClr val="000000"/>
              </a:buClr>
              <a:buSzPts val="1000"/>
              <a:buFont typeface="Noto Sans Symbols"/>
              <a:buChar char="∙"/>
            </a:pPr>
            <a:r>
              <a:rPr b="0" i="0" lang="en-US" sz="1400" u="none" cap="none" strike="noStrike">
                <a:solidFill>
                  <a:schemeClr val="dk1"/>
                </a:solidFill>
                <a:latin typeface="Inter"/>
                <a:ea typeface="Inter"/>
                <a:cs typeface="Inter"/>
                <a:sym typeface="Inter"/>
              </a:rPr>
              <a:t>Netflix is the most preferred streaming service with 14 votes (28.0%).</a:t>
            </a:r>
            <a:endParaRPr/>
          </a:p>
          <a:p>
            <a:pPr indent="0" lvl="0" marL="0" marR="0" rtl="0" algn="l">
              <a:lnSpc>
                <a:spcPct val="107000"/>
              </a:lnSpc>
              <a:spcBef>
                <a:spcPts val="800"/>
              </a:spcBef>
              <a:spcAft>
                <a:spcPts val="0"/>
              </a:spcAft>
              <a:buNone/>
            </a:pPr>
            <a:r>
              <a:rPr b="0" i="0" lang="en-US" sz="1400" u="none" cap="none" strike="noStrike">
                <a:solidFill>
                  <a:schemeClr val="dk1"/>
                </a:solidFill>
                <a:latin typeface="Inter"/>
                <a:ea typeface="Inter"/>
                <a:cs typeface="Inter"/>
                <a:sym typeface="Inter"/>
              </a:rPr>
              <a:t>·  What percentage of respondents chose Hulu?</a:t>
            </a:r>
            <a:endParaRPr/>
          </a:p>
          <a:p>
            <a:pPr indent="-342900" lvl="0" marL="342900" marR="0" rtl="0" algn="l">
              <a:lnSpc>
                <a:spcPct val="107000"/>
              </a:lnSpc>
              <a:spcBef>
                <a:spcPts val="800"/>
              </a:spcBef>
              <a:spcAft>
                <a:spcPts val="0"/>
              </a:spcAft>
              <a:buClr>
                <a:srgbClr val="000000"/>
              </a:buClr>
              <a:buSzPts val="1000"/>
              <a:buFont typeface="Noto Sans Symbols"/>
              <a:buChar char="∙"/>
            </a:pPr>
            <a:r>
              <a:rPr b="0" i="0" lang="en-US" sz="1400" u="none" cap="none" strike="noStrike">
                <a:solidFill>
                  <a:schemeClr val="dk1"/>
                </a:solidFill>
                <a:latin typeface="Inter"/>
                <a:ea typeface="Inter"/>
                <a:cs typeface="Inter"/>
                <a:sym typeface="Inter"/>
              </a:rPr>
              <a:t>26.0% of respondents chose Hulu (13 out of 50 responses).</a:t>
            </a:r>
            <a:endParaRPr/>
          </a:p>
          <a:p>
            <a:pPr indent="0" lvl="0" marL="0" marR="0" rtl="0" algn="l">
              <a:lnSpc>
                <a:spcPct val="107000"/>
              </a:lnSpc>
              <a:spcBef>
                <a:spcPts val="800"/>
              </a:spcBef>
              <a:spcAft>
                <a:spcPts val="0"/>
              </a:spcAft>
              <a:buNone/>
            </a:pPr>
            <a:r>
              <a:rPr b="0" i="0" lang="en-US" sz="1400" u="none" cap="none" strike="noStrike">
                <a:solidFill>
                  <a:schemeClr val="dk1"/>
                </a:solidFill>
                <a:latin typeface="Inter"/>
                <a:ea typeface="Inter"/>
                <a:cs typeface="Inter"/>
                <a:sym typeface="Inter"/>
              </a:rPr>
              <a:t>·  What is the total number of unique streaming services?</a:t>
            </a:r>
            <a:endParaRPr/>
          </a:p>
          <a:p>
            <a:pPr indent="-342900" lvl="0" marL="342900" marR="0" rtl="0" algn="l">
              <a:lnSpc>
                <a:spcPct val="107000"/>
              </a:lnSpc>
              <a:spcBef>
                <a:spcPts val="800"/>
              </a:spcBef>
              <a:spcAft>
                <a:spcPts val="0"/>
              </a:spcAft>
              <a:buClr>
                <a:srgbClr val="000000"/>
              </a:buClr>
              <a:buSzPts val="1000"/>
              <a:buFont typeface="Noto Sans Symbols"/>
              <a:buChar char="∙"/>
            </a:pPr>
            <a:r>
              <a:rPr b="0" i="0" lang="en-US" sz="1400" u="none" cap="none" strike="noStrike">
                <a:solidFill>
                  <a:schemeClr val="dk1"/>
                </a:solidFill>
                <a:latin typeface="Inter"/>
                <a:ea typeface="Inter"/>
                <a:cs typeface="Inter"/>
                <a:sym typeface="Inter"/>
              </a:rPr>
              <a:t>There are 4 unique streaming services:</a:t>
            </a:r>
            <a:br>
              <a:rPr b="0" i="0" lang="en-US" sz="1400" u="none" cap="none" strike="noStrike">
                <a:solidFill>
                  <a:schemeClr val="dk1"/>
                </a:solidFill>
                <a:latin typeface="Inter"/>
                <a:ea typeface="Inter"/>
                <a:cs typeface="Inter"/>
                <a:sym typeface="Inter"/>
              </a:rPr>
            </a:br>
            <a:r>
              <a:rPr b="0" i="0" lang="en-US" sz="1400" u="none" cap="none" strike="noStrike">
                <a:solidFill>
                  <a:schemeClr val="dk1"/>
                </a:solidFill>
                <a:latin typeface="Inter"/>
                <a:ea typeface="Inter"/>
                <a:cs typeface="Inter"/>
                <a:sym typeface="Inter"/>
              </a:rPr>
              <a:t>Hulu, Netflix, Disney+, and Amazon Prime.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1"/>
          <p:cNvSpPr txBox="1"/>
          <p:nvPr>
            <p:ph type="title"/>
          </p:nvPr>
        </p:nvSpPr>
        <p:spPr>
          <a:xfrm>
            <a:off x="683910" y="765040"/>
            <a:ext cx="3936300" cy="115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3200"/>
              <a:t>Central tendency</a:t>
            </a:r>
            <a:endParaRPr b="1" sz="3200"/>
          </a:p>
        </p:txBody>
      </p:sp>
      <p:sp>
        <p:nvSpPr>
          <p:cNvPr id="372" name="Google Shape;372;p11"/>
          <p:cNvSpPr txBox="1"/>
          <p:nvPr>
            <p:ph idx="1" type="body"/>
          </p:nvPr>
        </p:nvSpPr>
        <p:spPr>
          <a:xfrm>
            <a:off x="1141110" y="1351520"/>
            <a:ext cx="6478890" cy="222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US"/>
              <a:t>The indicators: </a:t>
            </a:r>
            <a:endParaRPr/>
          </a:p>
          <a:p>
            <a:pPr indent="-285750" lvl="0" marL="285750" rtl="0" algn="l">
              <a:lnSpc>
                <a:spcPct val="115000"/>
              </a:lnSpc>
              <a:spcBef>
                <a:spcPts val="1000"/>
              </a:spcBef>
              <a:spcAft>
                <a:spcPts val="0"/>
              </a:spcAft>
              <a:buSzPts val="1400"/>
              <a:buChar char="●"/>
            </a:pPr>
            <a:r>
              <a:rPr lang="en-US"/>
              <a:t>The sample (arithmetic) mean of n data values x1, . . . xn is</a:t>
            </a:r>
            <a:endParaRPr/>
          </a:p>
          <a:p>
            <a:pPr indent="-196850" lvl="0" marL="285750" rtl="0" algn="l">
              <a:lnSpc>
                <a:spcPct val="115000"/>
              </a:lnSpc>
              <a:spcBef>
                <a:spcPts val="1000"/>
              </a:spcBef>
              <a:spcAft>
                <a:spcPts val="0"/>
              </a:spcAft>
              <a:buSzPts val="1400"/>
              <a:buNone/>
            </a:pPr>
            <a:r>
              <a:t/>
            </a:r>
            <a:endParaRPr/>
          </a:p>
          <a:p>
            <a:pPr indent="-196850" lvl="0" marL="285750" rtl="0" algn="l">
              <a:lnSpc>
                <a:spcPct val="115000"/>
              </a:lnSpc>
              <a:spcBef>
                <a:spcPts val="1000"/>
              </a:spcBef>
              <a:spcAft>
                <a:spcPts val="0"/>
              </a:spcAft>
              <a:buSzPts val="1400"/>
              <a:buNone/>
            </a:pPr>
            <a:r>
              <a:t/>
            </a:r>
            <a:endParaRPr/>
          </a:p>
          <a:p>
            <a:pPr indent="-285750" lvl="0" marL="285750" rtl="0" algn="l">
              <a:lnSpc>
                <a:spcPct val="115000"/>
              </a:lnSpc>
              <a:spcBef>
                <a:spcPts val="1000"/>
              </a:spcBef>
              <a:spcAft>
                <a:spcPts val="0"/>
              </a:spcAft>
              <a:buSzPts val="1400"/>
              <a:buChar char="●"/>
            </a:pPr>
            <a:r>
              <a:rPr lang="en-US"/>
              <a:t>The sample median is the middle value after all of the values are put in an ordered list. For symmetric distributions, the mean and the median coincide</a:t>
            </a:r>
            <a:endParaRPr/>
          </a:p>
          <a:p>
            <a:pPr indent="-285750" lvl="0" marL="285750" rtl="0" algn="l">
              <a:lnSpc>
                <a:spcPct val="115000"/>
              </a:lnSpc>
              <a:spcBef>
                <a:spcPts val="1000"/>
              </a:spcBef>
              <a:spcAft>
                <a:spcPts val="0"/>
              </a:spcAft>
              <a:buSzPts val="1400"/>
              <a:buChar char="●"/>
            </a:pPr>
            <a:r>
              <a:rPr lang="en-US"/>
              <a:t>The mode is the most likely or frequently occurring value</a:t>
            </a:r>
            <a:endParaRPr/>
          </a:p>
          <a:p>
            <a:pPr indent="-196850" lvl="0" marL="285750" rtl="0" algn="l">
              <a:lnSpc>
                <a:spcPct val="115000"/>
              </a:lnSpc>
              <a:spcBef>
                <a:spcPts val="1000"/>
              </a:spcBef>
              <a:spcAft>
                <a:spcPts val="1000"/>
              </a:spcAft>
              <a:buSzPts val="1400"/>
              <a:buNone/>
            </a:pPr>
            <a:r>
              <a:t/>
            </a:r>
            <a:endParaRPr/>
          </a:p>
        </p:txBody>
      </p:sp>
      <p:grpSp>
        <p:nvGrpSpPr>
          <p:cNvPr id="373" name="Google Shape;373;p11"/>
          <p:cNvGrpSpPr/>
          <p:nvPr/>
        </p:nvGrpSpPr>
        <p:grpSpPr>
          <a:xfrm>
            <a:off x="7223732" y="4541809"/>
            <a:ext cx="1360765" cy="666952"/>
            <a:chOff x="-215300" y="3851305"/>
            <a:chExt cx="1694813" cy="830678"/>
          </a:xfrm>
        </p:grpSpPr>
        <p:sp>
          <p:nvSpPr>
            <p:cNvPr id="374" name="Google Shape;374;p11"/>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75" name="Google Shape;375;p11"/>
            <p:cNvGrpSpPr/>
            <p:nvPr/>
          </p:nvGrpSpPr>
          <p:grpSpPr>
            <a:xfrm>
              <a:off x="861887" y="4031521"/>
              <a:ext cx="137882" cy="60495"/>
              <a:chOff x="1949580" y="3551527"/>
              <a:chExt cx="247410" cy="108551"/>
            </a:xfrm>
          </p:grpSpPr>
          <p:sp>
            <p:nvSpPr>
              <p:cNvPr id="376" name="Google Shape;376;p11"/>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7" name="Google Shape;377;p11"/>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8" name="Google Shape;378;p11"/>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79" name="Google Shape;379;p11"/>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0" name="Google Shape;380;p11"/>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 name="Google Shape;381;p11"/>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2" name="Google Shape;382;p11"/>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3" name="Google Shape;383;p11"/>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4" name="Google Shape;384;p11"/>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5" name="Google Shape;385;p11"/>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6" name="Google Shape;386;p11"/>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7" name="Google Shape;387;p11"/>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8" name="Google Shape;388;p11"/>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9" name="Google Shape;389;p11"/>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0" name="Google Shape;390;p11"/>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 name="Google Shape;391;p11"/>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2" name="Google Shape;392;p11"/>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 name="Google Shape;393;p11"/>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4" name="Google Shape;394;p11"/>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5" name="Google Shape;395;p11"/>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6" name="Google Shape;396;p11"/>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397" name="Google Shape;397;p11"/>
          <p:cNvPicPr preferRelativeResize="0"/>
          <p:nvPr/>
        </p:nvPicPr>
        <p:blipFill rotWithShape="1">
          <a:blip r:embed="rId3">
            <a:alphaModFix/>
          </a:blip>
          <a:srcRect b="0" l="0" r="0" t="0"/>
          <a:stretch/>
        </p:blipFill>
        <p:spPr>
          <a:xfrm>
            <a:off x="3710305" y="2216150"/>
            <a:ext cx="1276350" cy="609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2"/>
          <p:cNvSpPr txBox="1"/>
          <p:nvPr>
            <p:ph type="title"/>
          </p:nvPr>
        </p:nvSpPr>
        <p:spPr>
          <a:xfrm>
            <a:off x="683910" y="765040"/>
            <a:ext cx="3936300" cy="115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3200"/>
              <a:t>Spread Measures</a:t>
            </a:r>
            <a:endParaRPr b="1" sz="3200"/>
          </a:p>
        </p:txBody>
      </p:sp>
      <p:sp>
        <p:nvSpPr>
          <p:cNvPr id="403" name="Google Shape;403;p12"/>
          <p:cNvSpPr txBox="1"/>
          <p:nvPr>
            <p:ph idx="1" type="body"/>
          </p:nvPr>
        </p:nvSpPr>
        <p:spPr>
          <a:xfrm>
            <a:off x="1110630" y="1341360"/>
            <a:ext cx="6478890" cy="222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US"/>
              <a:t>The indicators: </a:t>
            </a:r>
            <a:endParaRPr/>
          </a:p>
          <a:p>
            <a:pPr indent="-285750" lvl="0" marL="285750" rtl="0" algn="l">
              <a:lnSpc>
                <a:spcPct val="115000"/>
              </a:lnSpc>
              <a:spcBef>
                <a:spcPts val="1000"/>
              </a:spcBef>
              <a:spcAft>
                <a:spcPts val="0"/>
              </a:spcAft>
              <a:buSzPts val="1400"/>
              <a:buChar char="●"/>
            </a:pPr>
            <a:r>
              <a:rPr lang="en-US"/>
              <a:t>the sample variance, for n observations x1 . . . xn, is the sum of the squared deviations, divided by n − 1</a:t>
            </a:r>
            <a:endParaRPr/>
          </a:p>
          <a:p>
            <a:pPr indent="-196850" lvl="0" marL="285750" rtl="0" algn="l">
              <a:lnSpc>
                <a:spcPct val="115000"/>
              </a:lnSpc>
              <a:spcBef>
                <a:spcPts val="1000"/>
              </a:spcBef>
              <a:spcAft>
                <a:spcPts val="1000"/>
              </a:spcAft>
              <a:buSzPts val="1400"/>
              <a:buNone/>
            </a:pPr>
            <a:r>
              <a:t/>
            </a:r>
            <a:endParaRPr/>
          </a:p>
        </p:txBody>
      </p:sp>
      <p:grpSp>
        <p:nvGrpSpPr>
          <p:cNvPr id="404" name="Google Shape;404;p12"/>
          <p:cNvGrpSpPr/>
          <p:nvPr/>
        </p:nvGrpSpPr>
        <p:grpSpPr>
          <a:xfrm>
            <a:off x="7223732" y="4541809"/>
            <a:ext cx="1360765" cy="666952"/>
            <a:chOff x="-215300" y="3851305"/>
            <a:chExt cx="1694813" cy="830678"/>
          </a:xfrm>
        </p:grpSpPr>
        <p:sp>
          <p:nvSpPr>
            <p:cNvPr id="405" name="Google Shape;405;p12"/>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06" name="Google Shape;406;p12"/>
            <p:cNvGrpSpPr/>
            <p:nvPr/>
          </p:nvGrpSpPr>
          <p:grpSpPr>
            <a:xfrm>
              <a:off x="861887" y="4031521"/>
              <a:ext cx="137882" cy="60495"/>
              <a:chOff x="1949580" y="3551527"/>
              <a:chExt cx="247410" cy="108551"/>
            </a:xfrm>
          </p:grpSpPr>
          <p:sp>
            <p:nvSpPr>
              <p:cNvPr id="407" name="Google Shape;407;p12"/>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8" name="Google Shape;408;p12"/>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9" name="Google Shape;409;p12"/>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10" name="Google Shape;410;p12"/>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1" name="Google Shape;411;p12"/>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2" name="Google Shape;412;p12"/>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3" name="Google Shape;413;p12"/>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4" name="Google Shape;414;p12"/>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5" name="Google Shape;415;p12"/>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6" name="Google Shape;416;p12"/>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7" name="Google Shape;417;p12"/>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8" name="Google Shape;418;p12"/>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9" name="Google Shape;419;p12"/>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0" name="Google Shape;420;p12"/>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1" name="Google Shape;421;p12"/>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2" name="Google Shape;422;p12"/>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3" name="Google Shape;423;p12"/>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4" name="Google Shape;424;p12"/>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5" name="Google Shape;425;p12"/>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6" name="Google Shape;426;p12"/>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7" name="Google Shape;427;p12"/>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428" name="Google Shape;428;p12"/>
          <p:cNvPicPr preferRelativeResize="0"/>
          <p:nvPr/>
        </p:nvPicPr>
        <p:blipFill rotWithShape="1">
          <a:blip r:embed="rId3">
            <a:alphaModFix/>
          </a:blip>
          <a:srcRect b="0" l="0" r="0" t="0"/>
          <a:stretch/>
        </p:blipFill>
        <p:spPr>
          <a:xfrm>
            <a:off x="2775269" y="2573973"/>
            <a:ext cx="2690812" cy="1914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3"/>
          <p:cNvSpPr txBox="1"/>
          <p:nvPr>
            <p:ph type="title"/>
          </p:nvPr>
        </p:nvSpPr>
        <p:spPr>
          <a:xfrm>
            <a:off x="683910" y="765040"/>
            <a:ext cx="3936300" cy="115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3200"/>
              <a:t>Spread Measures</a:t>
            </a:r>
            <a:endParaRPr b="1" sz="3200"/>
          </a:p>
        </p:txBody>
      </p:sp>
      <p:sp>
        <p:nvSpPr>
          <p:cNvPr id="434" name="Google Shape;434;p13"/>
          <p:cNvSpPr txBox="1"/>
          <p:nvPr>
            <p:ph idx="1" type="body"/>
          </p:nvPr>
        </p:nvSpPr>
        <p:spPr>
          <a:xfrm>
            <a:off x="1110630" y="1341360"/>
            <a:ext cx="6478890" cy="222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US"/>
              <a:t>The indicators: </a:t>
            </a:r>
            <a:endParaRPr/>
          </a:p>
          <a:p>
            <a:pPr indent="-285750" lvl="0" marL="285750" rtl="0" algn="l">
              <a:lnSpc>
                <a:spcPct val="115000"/>
              </a:lnSpc>
              <a:spcBef>
                <a:spcPts val="1000"/>
              </a:spcBef>
              <a:spcAft>
                <a:spcPts val="1000"/>
              </a:spcAft>
              <a:buSzPts val="1400"/>
              <a:buChar char="●"/>
            </a:pPr>
            <a:r>
              <a:rPr lang="en-US"/>
              <a:t>the standard deviation s: the square root of the variance</a:t>
            </a:r>
            <a:endParaRPr/>
          </a:p>
        </p:txBody>
      </p:sp>
      <p:grpSp>
        <p:nvGrpSpPr>
          <p:cNvPr id="435" name="Google Shape;435;p13"/>
          <p:cNvGrpSpPr/>
          <p:nvPr/>
        </p:nvGrpSpPr>
        <p:grpSpPr>
          <a:xfrm>
            <a:off x="7223732" y="4541809"/>
            <a:ext cx="1360765" cy="666952"/>
            <a:chOff x="-215300" y="3851305"/>
            <a:chExt cx="1694813" cy="830678"/>
          </a:xfrm>
        </p:grpSpPr>
        <p:sp>
          <p:nvSpPr>
            <p:cNvPr id="436" name="Google Shape;436;p13"/>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37" name="Google Shape;437;p13"/>
            <p:cNvGrpSpPr/>
            <p:nvPr/>
          </p:nvGrpSpPr>
          <p:grpSpPr>
            <a:xfrm>
              <a:off x="861887" y="4031521"/>
              <a:ext cx="137882" cy="60495"/>
              <a:chOff x="1949580" y="3551527"/>
              <a:chExt cx="247410" cy="108551"/>
            </a:xfrm>
          </p:grpSpPr>
          <p:sp>
            <p:nvSpPr>
              <p:cNvPr id="438" name="Google Shape;438;p13"/>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9" name="Google Shape;439;p13"/>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0" name="Google Shape;440;p13"/>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41" name="Google Shape;441;p13"/>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2" name="Google Shape;442;p13"/>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3" name="Google Shape;443;p13"/>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4" name="Google Shape;444;p13"/>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5" name="Google Shape;445;p13"/>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6" name="Google Shape;446;p13"/>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7" name="Google Shape;447;p13"/>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8" name="Google Shape;448;p13"/>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9" name="Google Shape;449;p13"/>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0" name="Google Shape;450;p13"/>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1" name="Google Shape;451;p13"/>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2" name="Google Shape;452;p13"/>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3" name="Google Shape;453;p13"/>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4" name="Google Shape;454;p13"/>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5" name="Google Shape;455;p13"/>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6" name="Google Shape;456;p13"/>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7" name="Google Shape;457;p13"/>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8" name="Google Shape;458;p13"/>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459" name="Google Shape;459;p13"/>
          <p:cNvPicPr preferRelativeResize="0"/>
          <p:nvPr/>
        </p:nvPicPr>
        <p:blipFill rotWithShape="1">
          <a:blip r:embed="rId3">
            <a:alphaModFix/>
          </a:blip>
          <a:srcRect b="0" l="0" r="0" t="0"/>
          <a:stretch/>
        </p:blipFill>
        <p:spPr>
          <a:xfrm>
            <a:off x="3061970" y="2404428"/>
            <a:ext cx="2324100" cy="1133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14"/>
          <p:cNvSpPr txBox="1"/>
          <p:nvPr>
            <p:ph type="title"/>
          </p:nvPr>
        </p:nvSpPr>
        <p:spPr>
          <a:xfrm>
            <a:off x="683910" y="765040"/>
            <a:ext cx="3936300" cy="115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3200"/>
              <a:t>Spread Measures</a:t>
            </a:r>
            <a:endParaRPr b="1" sz="3200"/>
          </a:p>
        </p:txBody>
      </p:sp>
      <p:sp>
        <p:nvSpPr>
          <p:cNvPr id="465" name="Google Shape;465;p14"/>
          <p:cNvSpPr txBox="1"/>
          <p:nvPr>
            <p:ph idx="1" type="body"/>
          </p:nvPr>
        </p:nvSpPr>
        <p:spPr>
          <a:xfrm>
            <a:off x="1110630" y="1341360"/>
            <a:ext cx="4121770" cy="222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US"/>
              <a:t>The indicators: </a:t>
            </a:r>
            <a:endParaRPr/>
          </a:p>
          <a:p>
            <a:pPr indent="-285750" lvl="0" marL="285750" rtl="0" algn="l">
              <a:lnSpc>
                <a:spcPct val="115000"/>
              </a:lnSpc>
              <a:spcBef>
                <a:spcPts val="1000"/>
              </a:spcBef>
              <a:spcAft>
                <a:spcPts val="1000"/>
              </a:spcAft>
              <a:buSzPts val="1400"/>
              <a:buChar char="●"/>
            </a:pPr>
            <a:r>
              <a:rPr lang="en-US"/>
              <a:t> interquartile range: The quartiles are the three values which divide the distribution into even fourths: 1/4 of the data fall below Q1, 1/2 fall below Q2, 3/4 fall below Q3.</a:t>
            </a:r>
            <a:endParaRPr/>
          </a:p>
        </p:txBody>
      </p:sp>
      <p:grpSp>
        <p:nvGrpSpPr>
          <p:cNvPr id="466" name="Google Shape;466;p14"/>
          <p:cNvGrpSpPr/>
          <p:nvPr/>
        </p:nvGrpSpPr>
        <p:grpSpPr>
          <a:xfrm>
            <a:off x="7223732" y="4541809"/>
            <a:ext cx="1360765" cy="666952"/>
            <a:chOff x="-215300" y="3851305"/>
            <a:chExt cx="1694813" cy="830678"/>
          </a:xfrm>
        </p:grpSpPr>
        <p:sp>
          <p:nvSpPr>
            <p:cNvPr id="467" name="Google Shape;467;p14"/>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68" name="Google Shape;468;p14"/>
            <p:cNvGrpSpPr/>
            <p:nvPr/>
          </p:nvGrpSpPr>
          <p:grpSpPr>
            <a:xfrm>
              <a:off x="861887" y="4031521"/>
              <a:ext cx="137882" cy="60495"/>
              <a:chOff x="1949580" y="3551527"/>
              <a:chExt cx="247410" cy="108551"/>
            </a:xfrm>
          </p:grpSpPr>
          <p:sp>
            <p:nvSpPr>
              <p:cNvPr id="469" name="Google Shape;469;p14"/>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0" name="Google Shape;470;p14"/>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1" name="Google Shape;471;p14"/>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72" name="Google Shape;472;p14"/>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3" name="Google Shape;473;p14"/>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4" name="Google Shape;474;p14"/>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5" name="Google Shape;475;p14"/>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6" name="Google Shape;476;p14"/>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7" name="Google Shape;477;p14"/>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8" name="Google Shape;478;p14"/>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9" name="Google Shape;479;p14"/>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0" name="Google Shape;480;p14"/>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1" name="Google Shape;481;p14"/>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2" name="Google Shape;482;p14"/>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3" name="Google Shape;483;p14"/>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4" name="Google Shape;484;p14"/>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5" name="Google Shape;485;p14"/>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6" name="Google Shape;486;p14"/>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7" name="Google Shape;487;p14"/>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8" name="Google Shape;488;p14"/>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9" name="Google Shape;489;p14"/>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490" name="Google Shape;490;p14"/>
          <p:cNvPicPr preferRelativeResize="0"/>
          <p:nvPr/>
        </p:nvPicPr>
        <p:blipFill rotWithShape="1">
          <a:blip r:embed="rId3">
            <a:alphaModFix/>
          </a:blip>
          <a:srcRect b="0" l="0" r="0" t="0"/>
          <a:stretch/>
        </p:blipFill>
        <p:spPr>
          <a:xfrm>
            <a:off x="1467485" y="3053398"/>
            <a:ext cx="2771775" cy="1381125"/>
          </a:xfrm>
          <a:prstGeom prst="rect">
            <a:avLst/>
          </a:prstGeom>
          <a:noFill/>
          <a:ln>
            <a:noFill/>
          </a:ln>
        </p:spPr>
      </p:pic>
      <p:pic>
        <p:nvPicPr>
          <p:cNvPr id="491" name="Google Shape;491;p14"/>
          <p:cNvPicPr preferRelativeResize="0"/>
          <p:nvPr/>
        </p:nvPicPr>
        <p:blipFill rotWithShape="1">
          <a:blip r:embed="rId4">
            <a:alphaModFix/>
          </a:blip>
          <a:srcRect b="0" l="0" r="0" t="0"/>
          <a:stretch/>
        </p:blipFill>
        <p:spPr>
          <a:xfrm>
            <a:off x="5236527" y="1210945"/>
            <a:ext cx="3324225" cy="3371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5"/>
          <p:cNvSpPr txBox="1"/>
          <p:nvPr>
            <p:ph type="title"/>
          </p:nvPr>
        </p:nvSpPr>
        <p:spPr>
          <a:xfrm>
            <a:off x="683910" y="765040"/>
            <a:ext cx="3936300" cy="115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3200"/>
              <a:t>Shape of distribution</a:t>
            </a:r>
            <a:endParaRPr b="1" sz="3200"/>
          </a:p>
        </p:txBody>
      </p:sp>
      <p:sp>
        <p:nvSpPr>
          <p:cNvPr id="497" name="Google Shape;497;p15"/>
          <p:cNvSpPr txBox="1"/>
          <p:nvPr>
            <p:ph idx="1" type="body"/>
          </p:nvPr>
        </p:nvSpPr>
        <p:spPr>
          <a:xfrm>
            <a:off x="1110630" y="1341360"/>
            <a:ext cx="6478890" cy="2224200"/>
          </a:xfrm>
          <a:prstGeom prst="rect">
            <a:avLst/>
          </a:prstGeom>
          <a:noFill/>
          <a:ln>
            <a:noFill/>
          </a:ln>
        </p:spPr>
        <p:txBody>
          <a:bodyPr anchorCtr="0" anchor="t" bIns="91425" lIns="91425" spcFirstLastPara="1" rIns="91425" wrap="square" tIns="91425">
            <a:noAutofit/>
          </a:bodyPr>
          <a:lstStyle/>
          <a:p>
            <a:pPr indent="-285750" lvl="0" marL="285750" rtl="0" algn="l">
              <a:lnSpc>
                <a:spcPct val="115000"/>
              </a:lnSpc>
              <a:spcBef>
                <a:spcPts val="0"/>
              </a:spcBef>
              <a:spcAft>
                <a:spcPts val="1000"/>
              </a:spcAft>
              <a:buSzPts val="1400"/>
              <a:buChar char="●"/>
            </a:pPr>
            <a:r>
              <a:rPr lang="en-US"/>
              <a:t>skewness is a measure of asymmetry</a:t>
            </a:r>
            <a:endParaRPr/>
          </a:p>
        </p:txBody>
      </p:sp>
      <p:grpSp>
        <p:nvGrpSpPr>
          <p:cNvPr id="498" name="Google Shape;498;p15"/>
          <p:cNvGrpSpPr/>
          <p:nvPr/>
        </p:nvGrpSpPr>
        <p:grpSpPr>
          <a:xfrm>
            <a:off x="7223732" y="4541809"/>
            <a:ext cx="1360765" cy="666952"/>
            <a:chOff x="-215300" y="3851305"/>
            <a:chExt cx="1694813" cy="830678"/>
          </a:xfrm>
        </p:grpSpPr>
        <p:sp>
          <p:nvSpPr>
            <p:cNvPr id="499" name="Google Shape;499;p15"/>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00" name="Google Shape;500;p15"/>
            <p:cNvGrpSpPr/>
            <p:nvPr/>
          </p:nvGrpSpPr>
          <p:grpSpPr>
            <a:xfrm>
              <a:off x="861887" y="4031521"/>
              <a:ext cx="137882" cy="60495"/>
              <a:chOff x="1949580" y="3551527"/>
              <a:chExt cx="247410" cy="108551"/>
            </a:xfrm>
          </p:grpSpPr>
          <p:sp>
            <p:nvSpPr>
              <p:cNvPr id="501" name="Google Shape;501;p15"/>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2" name="Google Shape;502;p15"/>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3" name="Google Shape;503;p15"/>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504" name="Google Shape;504;p15"/>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5" name="Google Shape;505;p15"/>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6" name="Google Shape;506;p15"/>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7" name="Google Shape;507;p15"/>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8" name="Google Shape;508;p15"/>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9" name="Google Shape;509;p15"/>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0" name="Google Shape;510;p15"/>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1" name="Google Shape;511;p15"/>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2" name="Google Shape;512;p15"/>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3" name="Google Shape;513;p15"/>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4" name="Google Shape;514;p15"/>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5" name="Google Shape;515;p15"/>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6" name="Google Shape;516;p15"/>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7" name="Google Shape;517;p15"/>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8" name="Google Shape;518;p15"/>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9" name="Google Shape;519;p15"/>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0" name="Google Shape;520;p15"/>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1" name="Google Shape;521;p15"/>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522" name="Google Shape;522;p15"/>
          <p:cNvPicPr preferRelativeResize="0"/>
          <p:nvPr/>
        </p:nvPicPr>
        <p:blipFill rotWithShape="1">
          <a:blip r:embed="rId3">
            <a:alphaModFix/>
          </a:blip>
          <a:srcRect b="0" l="0" r="0" t="0"/>
          <a:stretch/>
        </p:blipFill>
        <p:spPr>
          <a:xfrm>
            <a:off x="3461385" y="2197735"/>
            <a:ext cx="5391150" cy="2190750"/>
          </a:xfrm>
          <a:prstGeom prst="rect">
            <a:avLst/>
          </a:prstGeom>
          <a:noFill/>
          <a:ln>
            <a:noFill/>
          </a:ln>
        </p:spPr>
      </p:pic>
      <p:pic>
        <p:nvPicPr>
          <p:cNvPr id="523" name="Google Shape;523;p15"/>
          <p:cNvPicPr preferRelativeResize="0"/>
          <p:nvPr/>
        </p:nvPicPr>
        <p:blipFill rotWithShape="1">
          <a:blip r:embed="rId4">
            <a:alphaModFix/>
          </a:blip>
          <a:srcRect b="0" l="0" r="0" t="0"/>
          <a:stretch/>
        </p:blipFill>
        <p:spPr>
          <a:xfrm>
            <a:off x="624840" y="2359025"/>
            <a:ext cx="2819400" cy="1543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6"/>
          <p:cNvSpPr txBox="1"/>
          <p:nvPr>
            <p:ph type="title"/>
          </p:nvPr>
        </p:nvSpPr>
        <p:spPr>
          <a:xfrm>
            <a:off x="683910" y="765040"/>
            <a:ext cx="3936300" cy="115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3200"/>
              <a:t>Shape of distribution</a:t>
            </a:r>
            <a:endParaRPr b="1" sz="3200"/>
          </a:p>
        </p:txBody>
      </p:sp>
      <p:sp>
        <p:nvSpPr>
          <p:cNvPr id="529" name="Google Shape;529;p16"/>
          <p:cNvSpPr txBox="1"/>
          <p:nvPr>
            <p:ph idx="1" type="body"/>
          </p:nvPr>
        </p:nvSpPr>
        <p:spPr>
          <a:xfrm>
            <a:off x="1110630" y="1341360"/>
            <a:ext cx="6478890" cy="2224200"/>
          </a:xfrm>
          <a:prstGeom prst="rect">
            <a:avLst/>
          </a:prstGeom>
          <a:noFill/>
          <a:ln>
            <a:noFill/>
          </a:ln>
        </p:spPr>
        <p:txBody>
          <a:bodyPr anchorCtr="0" anchor="t" bIns="91425" lIns="91425" spcFirstLastPara="1" rIns="91425" wrap="square" tIns="91425">
            <a:noAutofit/>
          </a:bodyPr>
          <a:lstStyle/>
          <a:p>
            <a:pPr indent="-285750" lvl="0" marL="285750" rtl="0" algn="l">
              <a:lnSpc>
                <a:spcPct val="115000"/>
              </a:lnSpc>
              <a:spcBef>
                <a:spcPts val="0"/>
              </a:spcBef>
              <a:spcAft>
                <a:spcPts val="1000"/>
              </a:spcAft>
              <a:buSzPts val="1400"/>
              <a:buChar char="●"/>
            </a:pPr>
            <a:r>
              <a:rPr b="1" lang="en-US"/>
              <a:t>kurtosis</a:t>
            </a:r>
            <a:r>
              <a:rPr lang="en-US"/>
              <a:t> is a measure of “peakedness” relative to a Gaussian shape. </a:t>
            </a:r>
            <a:endParaRPr/>
          </a:p>
        </p:txBody>
      </p:sp>
      <p:grpSp>
        <p:nvGrpSpPr>
          <p:cNvPr id="530" name="Google Shape;530;p16"/>
          <p:cNvGrpSpPr/>
          <p:nvPr/>
        </p:nvGrpSpPr>
        <p:grpSpPr>
          <a:xfrm>
            <a:off x="7223732" y="4541809"/>
            <a:ext cx="1360765" cy="666952"/>
            <a:chOff x="-215300" y="3851305"/>
            <a:chExt cx="1694813" cy="830678"/>
          </a:xfrm>
        </p:grpSpPr>
        <p:sp>
          <p:nvSpPr>
            <p:cNvPr id="531" name="Google Shape;531;p16"/>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32" name="Google Shape;532;p16"/>
            <p:cNvGrpSpPr/>
            <p:nvPr/>
          </p:nvGrpSpPr>
          <p:grpSpPr>
            <a:xfrm>
              <a:off x="861887" y="4031521"/>
              <a:ext cx="137882" cy="60495"/>
              <a:chOff x="1949580" y="3551527"/>
              <a:chExt cx="247410" cy="108551"/>
            </a:xfrm>
          </p:grpSpPr>
          <p:sp>
            <p:nvSpPr>
              <p:cNvPr id="533" name="Google Shape;533;p16"/>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4" name="Google Shape;534;p16"/>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5" name="Google Shape;535;p16"/>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536" name="Google Shape;536;p16"/>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7" name="Google Shape;537;p16"/>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8" name="Google Shape;538;p16"/>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9" name="Google Shape;539;p16"/>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 name="Google Shape;540;p16"/>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1" name="Google Shape;541;p16"/>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2" name="Google Shape;542;p16"/>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3" name="Google Shape;543;p16"/>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4" name="Google Shape;544;p16"/>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5" name="Google Shape;545;p16"/>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 name="Google Shape;546;p16"/>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 name="Google Shape;547;p16"/>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 name="Google Shape;548;p16"/>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9" name="Google Shape;549;p16"/>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0" name="Google Shape;550;p16"/>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 name="Google Shape;551;p16"/>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 name="Google Shape;552;p16"/>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 name="Google Shape;553;p16"/>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554" name="Google Shape;554;p16"/>
          <p:cNvPicPr preferRelativeResize="0"/>
          <p:nvPr/>
        </p:nvPicPr>
        <p:blipFill rotWithShape="1">
          <a:blip r:embed="rId3">
            <a:alphaModFix/>
          </a:blip>
          <a:srcRect b="0" l="0" r="0" t="0"/>
          <a:stretch/>
        </p:blipFill>
        <p:spPr>
          <a:xfrm>
            <a:off x="4677410" y="2035810"/>
            <a:ext cx="3771900" cy="2209800"/>
          </a:xfrm>
          <a:prstGeom prst="rect">
            <a:avLst/>
          </a:prstGeom>
          <a:noFill/>
          <a:ln>
            <a:noFill/>
          </a:ln>
        </p:spPr>
      </p:pic>
      <p:pic>
        <p:nvPicPr>
          <p:cNvPr id="555" name="Google Shape;555;p16"/>
          <p:cNvPicPr preferRelativeResize="0"/>
          <p:nvPr/>
        </p:nvPicPr>
        <p:blipFill rotWithShape="1">
          <a:blip r:embed="rId4">
            <a:alphaModFix/>
          </a:blip>
          <a:srcRect b="0" l="0" r="0" t="0"/>
          <a:stretch/>
        </p:blipFill>
        <p:spPr>
          <a:xfrm>
            <a:off x="917245" y="1943100"/>
            <a:ext cx="3092231" cy="1627490"/>
          </a:xfrm>
          <a:prstGeom prst="rect">
            <a:avLst/>
          </a:prstGeom>
          <a:noFill/>
          <a:ln>
            <a:noFill/>
          </a:ln>
        </p:spPr>
      </p:pic>
      <p:sp>
        <p:nvSpPr>
          <p:cNvPr id="556" name="Google Shape;556;p16"/>
          <p:cNvSpPr/>
          <p:nvPr/>
        </p:nvSpPr>
        <p:spPr>
          <a:xfrm>
            <a:off x="640080" y="3884354"/>
            <a:ext cx="4446270" cy="1169551"/>
          </a:xfrm>
          <a:prstGeom prst="rect">
            <a:avLst/>
          </a:prstGeom>
          <a:noFill/>
          <a:ln>
            <a:noFill/>
          </a:ln>
        </p:spPr>
        <p:txBody>
          <a:bodyPr anchorCtr="0" anchor="ctr" bIns="45700" lIns="91425" spcFirstLastPara="1" rIns="91425" wrap="square" tIns="45700">
            <a:spAutoFit/>
          </a:bodyPr>
          <a:lstStyle/>
          <a:p>
            <a:pPr indent="-88900" lvl="0" marL="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Inter"/>
                <a:ea typeface="Inter"/>
                <a:cs typeface="Inter"/>
                <a:sym typeface="Inter"/>
              </a:rPr>
              <a:t>High kurtosis (&gt;3):</a:t>
            </a:r>
            <a:r>
              <a:rPr b="0" i="0" lang="en-US" sz="1400" u="none" cap="none" strike="noStrike">
                <a:solidFill>
                  <a:schemeClr val="dk1"/>
                </a:solidFill>
                <a:latin typeface="Inter"/>
                <a:ea typeface="Inter"/>
                <a:cs typeface="Inter"/>
                <a:sym typeface="Inter"/>
              </a:rPr>
              <a:t> More extreme values (heavy tails). </a:t>
            </a:r>
            <a:endParaRPr/>
          </a:p>
          <a:p>
            <a:pPr indent="-88900" lvl="0" marL="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Inter"/>
                <a:ea typeface="Inter"/>
                <a:cs typeface="Inter"/>
                <a:sym typeface="Inter"/>
              </a:rPr>
              <a:t>Low kurtosis (&lt;3):</a:t>
            </a:r>
            <a:r>
              <a:rPr b="0" i="0" lang="en-US" sz="1400" u="none" cap="none" strike="noStrike">
                <a:solidFill>
                  <a:schemeClr val="dk1"/>
                </a:solidFill>
                <a:latin typeface="Inter"/>
                <a:ea typeface="Inter"/>
                <a:cs typeface="Inter"/>
                <a:sym typeface="Inter"/>
              </a:rPr>
              <a:t> Few extreme values (light tails). </a:t>
            </a:r>
            <a:endParaRPr/>
          </a:p>
          <a:p>
            <a:pPr indent="-88900" lvl="0" marL="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Inter"/>
                <a:ea typeface="Inter"/>
                <a:cs typeface="Inter"/>
                <a:sym typeface="Inter"/>
              </a:rPr>
              <a:t>Kurtosis = 3:</a:t>
            </a:r>
            <a:r>
              <a:rPr b="0" i="0" lang="en-US" sz="1400" u="none" cap="none" strike="noStrike">
                <a:solidFill>
                  <a:schemeClr val="dk1"/>
                </a:solidFill>
                <a:latin typeface="Inter"/>
                <a:ea typeface="Inter"/>
                <a:cs typeface="Inter"/>
                <a:sym typeface="Inter"/>
              </a:rPr>
              <a:t> Normal distribution.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1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Shape of distribution</a:t>
            </a:r>
            <a:endParaRPr/>
          </a:p>
        </p:txBody>
      </p:sp>
      <p:sp>
        <p:nvSpPr>
          <p:cNvPr id="562" name="Google Shape;562;p17"/>
          <p:cNvSpPr/>
          <p:nvPr/>
        </p:nvSpPr>
        <p:spPr>
          <a:xfrm>
            <a:off x="720090" y="1402705"/>
            <a:ext cx="45720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1. </a:t>
            </a:r>
            <a:r>
              <a:rPr b="1" i="0" lang="en-US" sz="1400" u="none" cap="none" strike="noStrike">
                <a:solidFill>
                  <a:schemeClr val="dk1"/>
                </a:solidFill>
                <a:latin typeface="Inter"/>
                <a:ea typeface="Inter"/>
                <a:cs typeface="Inter"/>
                <a:sym typeface="Inter"/>
              </a:rPr>
              <a:t>Normal Distribution </a:t>
            </a:r>
            <a:r>
              <a:rPr b="0" i="0" lang="en-US" sz="1400" u="none" cap="none" strike="noStrike">
                <a:solidFill>
                  <a:schemeClr val="dk1"/>
                </a:solidFill>
                <a:latin typeface="Inter"/>
                <a:ea typeface="Inter"/>
                <a:cs typeface="Inter"/>
                <a:sym typeface="Inter"/>
              </a:rPr>
              <a:t>(Skewness = 0, Kurtosis = 3)</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Shape</a:t>
            </a:r>
            <a:r>
              <a:rPr b="0" i="0" lang="en-US" sz="1400" u="none" cap="none" strike="noStrike">
                <a:solidFill>
                  <a:schemeClr val="dk1"/>
                </a:solidFill>
                <a:latin typeface="Inter"/>
                <a:ea typeface="Inter"/>
                <a:cs typeface="Inter"/>
                <a:sym typeface="Inter"/>
              </a:rPr>
              <a:t>: Symmetrical, bell-shaped</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Heights of people, IQ scores</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No skewness (balanced left and right tails)</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Kurtosis = 3 (mesokurtic, meaning it follows the normal distribution's tail behavior)</a:t>
            </a:r>
            <a:endParaRPr/>
          </a:p>
          <a:p>
            <a:pPr indent="0" lvl="1"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Graph</a:t>
            </a:r>
            <a:r>
              <a:rPr b="0" i="0" lang="en-US" sz="1400" u="none" cap="none" strike="noStrike">
                <a:solidFill>
                  <a:schemeClr val="dk1"/>
                </a:solidFill>
                <a:latin typeface="Inter"/>
                <a:ea typeface="Inter"/>
                <a:cs typeface="Inter"/>
                <a:sym typeface="Inter"/>
              </a:rPr>
              <a:t>: Looks like a classic bell curve.</a:t>
            </a:r>
            <a:endParaRPr/>
          </a:p>
        </p:txBody>
      </p:sp>
      <p:pic>
        <p:nvPicPr>
          <p:cNvPr id="563" name="Google Shape;563;p17"/>
          <p:cNvPicPr preferRelativeResize="0"/>
          <p:nvPr/>
        </p:nvPicPr>
        <p:blipFill rotWithShape="1">
          <a:blip r:embed="rId3">
            <a:alphaModFix/>
          </a:blip>
          <a:srcRect b="0" l="0" r="0" t="0"/>
          <a:stretch/>
        </p:blipFill>
        <p:spPr>
          <a:xfrm>
            <a:off x="5421134" y="1245869"/>
            <a:ext cx="3542484" cy="244602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Shape of distribution</a:t>
            </a:r>
            <a:endParaRPr/>
          </a:p>
        </p:txBody>
      </p:sp>
      <p:sp>
        <p:nvSpPr>
          <p:cNvPr id="569" name="Google Shape;569;p18"/>
          <p:cNvSpPr/>
          <p:nvPr/>
        </p:nvSpPr>
        <p:spPr>
          <a:xfrm>
            <a:off x="720090" y="1402705"/>
            <a:ext cx="4572000"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2. </a:t>
            </a:r>
            <a:r>
              <a:rPr b="1" i="0" lang="en-US" sz="1400" u="none" cap="none" strike="noStrike">
                <a:solidFill>
                  <a:schemeClr val="dk1"/>
                </a:solidFill>
                <a:latin typeface="Inter"/>
                <a:ea typeface="Inter"/>
                <a:cs typeface="Inter"/>
                <a:sym typeface="Inter"/>
              </a:rPr>
              <a:t>Right-Skewed Distribution </a:t>
            </a:r>
            <a:r>
              <a:rPr b="0" i="0" lang="en-US" sz="1400" u="none" cap="none" strike="noStrike">
                <a:solidFill>
                  <a:schemeClr val="dk1"/>
                </a:solidFill>
                <a:latin typeface="Inter"/>
                <a:ea typeface="Inter"/>
                <a:cs typeface="Inter"/>
                <a:sym typeface="Inter"/>
              </a:rPr>
              <a:t>(Positive Skewness, Kurtosis ≈ 3)</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Shape</a:t>
            </a:r>
            <a:r>
              <a:rPr b="0" i="0" lang="en-US" sz="1400" u="none" cap="none" strike="noStrike">
                <a:solidFill>
                  <a:schemeClr val="dk1"/>
                </a:solidFill>
                <a:latin typeface="Inter"/>
                <a:ea typeface="Inter"/>
                <a:cs typeface="Inter"/>
                <a:sym typeface="Inter"/>
              </a:rPr>
              <a:t>: Longer right tail (majority of values are concentrated on the left)</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Example: </a:t>
            </a:r>
            <a:r>
              <a:rPr b="0" i="0" lang="en-US" sz="1400" u="none" cap="none" strike="noStrike">
                <a:solidFill>
                  <a:schemeClr val="dk1"/>
                </a:solidFill>
                <a:latin typeface="Inter"/>
                <a:ea typeface="Inter"/>
                <a:cs typeface="Inter"/>
                <a:sym typeface="Inter"/>
              </a:rPr>
              <a:t>Income distribution, waiting times at a bus stop</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Skewness &gt; 0 (right tail is stretched)</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Kurtosis ≈ 3 (mesokurtic, similar to normal but shifted)</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Graph</a:t>
            </a:r>
            <a:r>
              <a:rPr b="0" i="0" lang="en-US" sz="1400" u="none" cap="none" strike="noStrike">
                <a:solidFill>
                  <a:schemeClr val="dk1"/>
                </a:solidFill>
                <a:latin typeface="Inter"/>
                <a:ea typeface="Inter"/>
                <a:cs typeface="Inter"/>
                <a:sym typeface="Inter"/>
              </a:rPr>
              <a:t>: The peak is left-heavy, with a longer right tail.</a:t>
            </a:r>
            <a:endParaRPr/>
          </a:p>
        </p:txBody>
      </p:sp>
      <p:pic>
        <p:nvPicPr>
          <p:cNvPr id="570" name="Google Shape;570;p18"/>
          <p:cNvPicPr preferRelativeResize="0"/>
          <p:nvPr/>
        </p:nvPicPr>
        <p:blipFill rotWithShape="1">
          <a:blip r:embed="rId3">
            <a:alphaModFix/>
          </a:blip>
          <a:srcRect b="0" l="0" r="0" t="0"/>
          <a:stretch/>
        </p:blipFill>
        <p:spPr>
          <a:xfrm>
            <a:off x="5307649" y="1062990"/>
            <a:ext cx="3330781" cy="232029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Shape of distribution</a:t>
            </a:r>
            <a:endParaRPr/>
          </a:p>
        </p:txBody>
      </p:sp>
      <p:sp>
        <p:nvSpPr>
          <p:cNvPr id="576" name="Google Shape;576;p19"/>
          <p:cNvSpPr/>
          <p:nvPr/>
        </p:nvSpPr>
        <p:spPr>
          <a:xfrm>
            <a:off x="720090" y="1402705"/>
            <a:ext cx="4572000"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3. </a:t>
            </a:r>
            <a:r>
              <a:rPr b="1" i="0" lang="en-US" sz="1400" u="none" cap="none" strike="noStrike">
                <a:solidFill>
                  <a:schemeClr val="dk1"/>
                </a:solidFill>
                <a:latin typeface="Inter"/>
                <a:ea typeface="Inter"/>
                <a:cs typeface="Inter"/>
                <a:sym typeface="Inter"/>
              </a:rPr>
              <a:t>Left-Skewed Distribution </a:t>
            </a:r>
            <a:r>
              <a:rPr b="0" i="0" lang="en-US" sz="1400" u="none" cap="none" strike="noStrike">
                <a:solidFill>
                  <a:schemeClr val="dk1"/>
                </a:solidFill>
                <a:latin typeface="Inter"/>
                <a:ea typeface="Inter"/>
                <a:cs typeface="Inter"/>
                <a:sym typeface="Inter"/>
              </a:rPr>
              <a:t>(Negative Skewness, Kurtosis ≈ 3)</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Shape</a:t>
            </a:r>
            <a:r>
              <a:rPr b="0" i="0" lang="en-US" sz="1400" u="none" cap="none" strike="noStrike">
                <a:solidFill>
                  <a:schemeClr val="dk1"/>
                </a:solidFill>
                <a:latin typeface="Inter"/>
                <a:ea typeface="Inter"/>
                <a:cs typeface="Inter"/>
                <a:sym typeface="Inter"/>
              </a:rPr>
              <a:t>: Longer left tail (majority of values on the right)</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Age at retirement, scores on an easy exam</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Skewness &lt; 0 (left tail is stretched)</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Kurtosis ≈ 3 (still mesokurtic)</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Graph</a:t>
            </a:r>
            <a:r>
              <a:rPr b="0" i="0" lang="en-US" sz="1400" u="none" cap="none" strike="noStrike">
                <a:solidFill>
                  <a:schemeClr val="dk1"/>
                </a:solidFill>
                <a:latin typeface="Inter"/>
                <a:ea typeface="Inter"/>
                <a:cs typeface="Inter"/>
                <a:sym typeface="Inter"/>
              </a:rPr>
              <a:t>: The peak is right-heavy, with a longer left tail.</a:t>
            </a:r>
            <a:endParaRPr/>
          </a:p>
        </p:txBody>
      </p:sp>
      <p:pic>
        <p:nvPicPr>
          <p:cNvPr id="577" name="Google Shape;577;p19"/>
          <p:cNvPicPr preferRelativeResize="0"/>
          <p:nvPr/>
        </p:nvPicPr>
        <p:blipFill rotWithShape="1">
          <a:blip r:embed="rId3">
            <a:alphaModFix/>
          </a:blip>
          <a:srcRect b="0" l="0" r="0" t="0"/>
          <a:stretch/>
        </p:blipFill>
        <p:spPr>
          <a:xfrm>
            <a:off x="5349558" y="882969"/>
            <a:ext cx="3580269" cy="255746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Shape of distribution</a:t>
            </a:r>
            <a:endParaRPr/>
          </a:p>
        </p:txBody>
      </p:sp>
      <p:sp>
        <p:nvSpPr>
          <p:cNvPr id="583" name="Google Shape;583;p20"/>
          <p:cNvSpPr/>
          <p:nvPr/>
        </p:nvSpPr>
        <p:spPr>
          <a:xfrm>
            <a:off x="720090" y="1402705"/>
            <a:ext cx="4572000"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4. </a:t>
            </a:r>
            <a:r>
              <a:rPr b="1" i="0" lang="en-US" sz="1400" u="none" cap="none" strike="noStrike">
                <a:solidFill>
                  <a:schemeClr val="dk1"/>
                </a:solidFill>
                <a:latin typeface="Inter"/>
                <a:ea typeface="Inter"/>
                <a:cs typeface="Inter"/>
                <a:sym typeface="Inter"/>
              </a:rPr>
              <a:t>Leptokurtic Distribution </a:t>
            </a:r>
            <a:r>
              <a:rPr b="0" i="0" lang="en-US" sz="1400" u="none" cap="none" strike="noStrike">
                <a:solidFill>
                  <a:schemeClr val="dk1"/>
                </a:solidFill>
                <a:latin typeface="Inter"/>
                <a:ea typeface="Inter"/>
                <a:cs typeface="Inter"/>
                <a:sym typeface="Inter"/>
              </a:rPr>
              <a:t>(Skewness ≈ 0, Kurtosis &gt; 3)</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Shape</a:t>
            </a:r>
            <a:r>
              <a:rPr b="0" i="0" lang="en-US" sz="1400" u="none" cap="none" strike="noStrike">
                <a:solidFill>
                  <a:schemeClr val="dk1"/>
                </a:solidFill>
                <a:latin typeface="Inter"/>
                <a:ea typeface="Inter"/>
                <a:cs typeface="Inter"/>
                <a:sym typeface="Inter"/>
              </a:rPr>
              <a:t>: Very tall and sharp peak with heavy tails</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Stock market returns, rare but extreme events</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Skewness ≈ 0 (symmetrical)</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Kurtosis &gt; 3 (fat tails, meaning more extreme values than normal)</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Graph</a:t>
            </a:r>
            <a:r>
              <a:rPr b="0" i="0" lang="en-US" sz="1400" u="none" cap="none" strike="noStrike">
                <a:solidFill>
                  <a:schemeClr val="dk1"/>
                </a:solidFill>
                <a:latin typeface="Inter"/>
                <a:ea typeface="Inter"/>
                <a:cs typeface="Inter"/>
                <a:sym typeface="Inter"/>
              </a:rPr>
              <a:t>: Very sharp peak and thick tails (more extreme outliers).</a:t>
            </a:r>
            <a:endParaRPr/>
          </a:p>
        </p:txBody>
      </p:sp>
      <p:pic>
        <p:nvPicPr>
          <p:cNvPr id="584" name="Google Shape;584;p20"/>
          <p:cNvPicPr preferRelativeResize="0"/>
          <p:nvPr/>
        </p:nvPicPr>
        <p:blipFill rotWithShape="1">
          <a:blip r:embed="rId3">
            <a:alphaModFix/>
          </a:blip>
          <a:srcRect b="0" l="0" r="0" t="0"/>
          <a:stretch/>
        </p:blipFill>
        <p:spPr>
          <a:xfrm>
            <a:off x="5181896" y="922020"/>
            <a:ext cx="3655399" cy="26441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Shape of distribution</a:t>
            </a:r>
            <a:endParaRPr/>
          </a:p>
        </p:txBody>
      </p:sp>
      <p:sp>
        <p:nvSpPr>
          <p:cNvPr id="590" name="Google Shape;590;p21"/>
          <p:cNvSpPr/>
          <p:nvPr/>
        </p:nvSpPr>
        <p:spPr>
          <a:xfrm>
            <a:off x="720090" y="1402705"/>
            <a:ext cx="4572000"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5. </a:t>
            </a:r>
            <a:r>
              <a:rPr b="1" i="0" lang="en-US" sz="1400" u="none" cap="none" strike="noStrike">
                <a:solidFill>
                  <a:schemeClr val="dk1"/>
                </a:solidFill>
                <a:latin typeface="Inter"/>
                <a:ea typeface="Inter"/>
                <a:cs typeface="Inter"/>
                <a:sym typeface="Inter"/>
              </a:rPr>
              <a:t>Platykurtic Distribution </a:t>
            </a:r>
            <a:r>
              <a:rPr b="0" i="0" lang="en-US" sz="1400" u="none" cap="none" strike="noStrike">
                <a:solidFill>
                  <a:schemeClr val="dk1"/>
                </a:solidFill>
                <a:latin typeface="Inter"/>
                <a:ea typeface="Inter"/>
                <a:cs typeface="Inter"/>
                <a:sym typeface="Inter"/>
              </a:rPr>
              <a:t>(Skewness ≈ 0, Kurtosis &lt; 3)</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Shape</a:t>
            </a:r>
            <a:r>
              <a:rPr b="0" i="0" lang="en-US" sz="1400" u="none" cap="none" strike="noStrike">
                <a:solidFill>
                  <a:schemeClr val="dk1"/>
                </a:solidFill>
                <a:latin typeface="Inter"/>
                <a:ea typeface="Inter"/>
                <a:cs typeface="Inter"/>
                <a:sym typeface="Inter"/>
              </a:rPr>
              <a:t>: Flatter peak with thin tails</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Uniform-like data, rolling a fair die</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Skewness ≈ 0 (symmetrical)</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Kurtosis &lt; 3 (light tails, meaning fewer outliers than normal)</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Graph</a:t>
            </a:r>
            <a:r>
              <a:rPr b="0" i="0" lang="en-US" sz="1400" u="none" cap="none" strike="noStrike">
                <a:solidFill>
                  <a:schemeClr val="dk1"/>
                </a:solidFill>
                <a:latin typeface="Inter"/>
                <a:ea typeface="Inter"/>
                <a:cs typeface="Inter"/>
                <a:sym typeface="Inter"/>
              </a:rPr>
              <a:t>: Flat and spread-out distribution.</a:t>
            </a:r>
            <a:endParaRPr/>
          </a:p>
        </p:txBody>
      </p:sp>
      <p:pic>
        <p:nvPicPr>
          <p:cNvPr id="591" name="Google Shape;591;p21"/>
          <p:cNvPicPr preferRelativeResize="0"/>
          <p:nvPr/>
        </p:nvPicPr>
        <p:blipFill rotWithShape="1">
          <a:blip r:embed="rId3">
            <a:alphaModFix/>
          </a:blip>
          <a:srcRect b="0" l="0" r="0" t="0"/>
          <a:stretch/>
        </p:blipFill>
        <p:spPr>
          <a:xfrm>
            <a:off x="5205156" y="998220"/>
            <a:ext cx="3654999" cy="262508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2:</a:t>
            </a:r>
            <a:endParaRPr/>
          </a:p>
        </p:txBody>
      </p:sp>
      <p:sp>
        <p:nvSpPr>
          <p:cNvPr id="597" name="Google Shape;597;p22"/>
          <p:cNvSpPr/>
          <p:nvPr/>
        </p:nvSpPr>
        <p:spPr>
          <a:xfrm>
            <a:off x="987973" y="1076229"/>
            <a:ext cx="2659118" cy="131209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1400" u="none" cap="none" strike="noStrike">
                <a:solidFill>
                  <a:schemeClr val="dk1"/>
                </a:solidFill>
                <a:latin typeface="Inter"/>
                <a:ea typeface="Inter"/>
                <a:cs typeface="Inter"/>
                <a:sym typeface="Inter"/>
              </a:rPr>
              <a:t>The table lists the total cash donations (rounded to millions of dollars) given by eight U.S. companies during the year 2010</a:t>
            </a:r>
            <a:endParaRPr/>
          </a:p>
        </p:txBody>
      </p:sp>
      <p:pic>
        <p:nvPicPr>
          <p:cNvPr id="598" name="Google Shape;598;p22"/>
          <p:cNvPicPr preferRelativeResize="0"/>
          <p:nvPr/>
        </p:nvPicPr>
        <p:blipFill rotWithShape="1">
          <a:blip r:embed="rId3">
            <a:alphaModFix/>
          </a:blip>
          <a:srcRect b="0" l="0" r="0" t="0"/>
          <a:stretch/>
        </p:blipFill>
        <p:spPr>
          <a:xfrm>
            <a:off x="4649677" y="1211317"/>
            <a:ext cx="3233082" cy="2404241"/>
          </a:xfrm>
          <a:prstGeom prst="rect">
            <a:avLst/>
          </a:prstGeom>
          <a:noFill/>
          <a:ln>
            <a:noFill/>
          </a:ln>
        </p:spPr>
      </p:pic>
      <p:sp>
        <p:nvSpPr>
          <p:cNvPr id="599" name="Google Shape;599;p22"/>
          <p:cNvSpPr/>
          <p:nvPr/>
        </p:nvSpPr>
        <p:spPr>
          <a:xfrm>
            <a:off x="4788505" y="3671569"/>
            <a:ext cx="2821606" cy="257506"/>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050" u="none" cap="none" strike="noStrike">
                <a:solidFill>
                  <a:srgbClr val="000000"/>
                </a:solidFill>
                <a:latin typeface="Calibri"/>
                <a:ea typeface="Calibri"/>
                <a:cs typeface="Calibri"/>
                <a:sym typeface="Calibri"/>
              </a:rPr>
              <a:t>Cash Donations in 2010 by Eight U.S. Companies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2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2:</a:t>
            </a:r>
            <a:endParaRPr/>
          </a:p>
        </p:txBody>
      </p:sp>
      <p:sp>
        <p:nvSpPr>
          <p:cNvPr id="605" name="Google Shape;605;p23"/>
          <p:cNvSpPr/>
          <p:nvPr/>
        </p:nvSpPr>
        <p:spPr>
          <a:xfrm>
            <a:off x="987973" y="1076229"/>
            <a:ext cx="2659118" cy="1715854"/>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1400" u="none" cap="none" strike="noStrike">
                <a:solidFill>
                  <a:schemeClr val="dk1"/>
                </a:solidFill>
                <a:latin typeface="Inter"/>
                <a:ea typeface="Inter"/>
                <a:cs typeface="Inter"/>
                <a:sym typeface="Inter"/>
              </a:rPr>
              <a:t>Compute </a:t>
            </a:r>
            <a:endParaRPr/>
          </a:p>
          <a:p>
            <a:pPr indent="-285750" lvl="0" marL="285750" marR="0" rtl="0" algn="l">
              <a:lnSpc>
                <a:spcPct val="115000"/>
              </a:lnSpc>
              <a:spcBef>
                <a:spcPts val="1000"/>
              </a:spcBef>
              <a:spcAft>
                <a:spcPts val="0"/>
              </a:spcAft>
              <a:buClr>
                <a:schemeClr val="dk1"/>
              </a:buClr>
              <a:buSzPts val="1400"/>
              <a:buFont typeface="Arial"/>
              <a:buChar char="•"/>
            </a:pPr>
            <a:r>
              <a:rPr b="0" i="0" lang="en-US" sz="1400" u="none" cap="none" strike="noStrike">
                <a:solidFill>
                  <a:schemeClr val="dk1"/>
                </a:solidFill>
                <a:latin typeface="Inter"/>
                <a:ea typeface="Inter"/>
                <a:cs typeface="Inter"/>
                <a:sym typeface="Inter"/>
              </a:rPr>
              <a:t>Measures of Central Tendency</a:t>
            </a:r>
            <a:endParaRPr/>
          </a:p>
          <a:p>
            <a:pPr indent="-285750" lvl="0" marL="285750" marR="0" rtl="0" algn="l">
              <a:lnSpc>
                <a:spcPct val="115000"/>
              </a:lnSpc>
              <a:spcBef>
                <a:spcPts val="1000"/>
              </a:spcBef>
              <a:spcAft>
                <a:spcPts val="0"/>
              </a:spcAft>
              <a:buClr>
                <a:schemeClr val="dk1"/>
              </a:buClr>
              <a:buSzPts val="1400"/>
              <a:buFont typeface="Arial"/>
              <a:buChar char="•"/>
            </a:pPr>
            <a:r>
              <a:rPr b="0" i="0" lang="en-US" sz="1400" u="none" cap="none" strike="noStrike">
                <a:solidFill>
                  <a:schemeClr val="dk1"/>
                </a:solidFill>
                <a:latin typeface="Inter"/>
                <a:ea typeface="Inter"/>
                <a:cs typeface="Inter"/>
                <a:sym typeface="Inter"/>
              </a:rPr>
              <a:t>Measures of Dispersion</a:t>
            </a:r>
            <a:endParaRPr/>
          </a:p>
          <a:p>
            <a:pPr indent="-285750" lvl="0" marL="285750" marR="0" rtl="0" algn="l">
              <a:lnSpc>
                <a:spcPct val="115000"/>
              </a:lnSpc>
              <a:spcBef>
                <a:spcPts val="1000"/>
              </a:spcBef>
              <a:spcAft>
                <a:spcPts val="0"/>
              </a:spcAft>
              <a:buClr>
                <a:schemeClr val="dk1"/>
              </a:buClr>
              <a:buSzPts val="1400"/>
              <a:buFont typeface="Arial"/>
              <a:buChar char="•"/>
            </a:pPr>
            <a:r>
              <a:rPr b="0" i="0" lang="en-US" sz="1400" u="none" cap="none" strike="noStrike">
                <a:solidFill>
                  <a:schemeClr val="dk1"/>
                </a:solidFill>
                <a:latin typeface="Inter"/>
                <a:ea typeface="Inter"/>
                <a:cs typeface="Inter"/>
                <a:sym typeface="Inter"/>
              </a:rPr>
              <a:t>Shape of Distribution</a:t>
            </a:r>
            <a:endParaRPr/>
          </a:p>
        </p:txBody>
      </p:sp>
      <p:pic>
        <p:nvPicPr>
          <p:cNvPr id="606" name="Google Shape;606;p23"/>
          <p:cNvPicPr preferRelativeResize="0"/>
          <p:nvPr/>
        </p:nvPicPr>
        <p:blipFill rotWithShape="1">
          <a:blip r:embed="rId3">
            <a:alphaModFix/>
          </a:blip>
          <a:srcRect b="0" l="0" r="0" t="0"/>
          <a:stretch/>
        </p:blipFill>
        <p:spPr>
          <a:xfrm>
            <a:off x="4649677" y="1211317"/>
            <a:ext cx="3233082" cy="2404241"/>
          </a:xfrm>
          <a:prstGeom prst="rect">
            <a:avLst/>
          </a:prstGeom>
          <a:noFill/>
          <a:ln>
            <a:noFill/>
          </a:ln>
        </p:spPr>
      </p:pic>
      <p:sp>
        <p:nvSpPr>
          <p:cNvPr id="607" name="Google Shape;607;p23"/>
          <p:cNvSpPr/>
          <p:nvPr/>
        </p:nvSpPr>
        <p:spPr>
          <a:xfrm>
            <a:off x="4788505" y="3671569"/>
            <a:ext cx="2821606" cy="257506"/>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050" u="none" cap="none" strike="noStrike">
                <a:solidFill>
                  <a:srgbClr val="000000"/>
                </a:solidFill>
                <a:latin typeface="Calibri"/>
                <a:ea typeface="Calibri"/>
                <a:cs typeface="Calibri"/>
                <a:sym typeface="Calibri"/>
              </a:rPr>
              <a:t>Cash Donations in 2010 by Eight U.S. Companies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Central Tendency</a:t>
            </a:r>
            <a:br>
              <a:rPr lang="en-US">
                <a:latin typeface="Inter"/>
                <a:ea typeface="Inter"/>
                <a:cs typeface="Inter"/>
                <a:sym typeface="Inter"/>
              </a:rPr>
            </a:br>
            <a:endParaRPr/>
          </a:p>
        </p:txBody>
      </p:sp>
      <p:pic>
        <p:nvPicPr>
          <p:cNvPr id="613" name="Google Shape;613;p24"/>
          <p:cNvPicPr preferRelativeResize="0"/>
          <p:nvPr/>
        </p:nvPicPr>
        <p:blipFill rotWithShape="1">
          <a:blip r:embed="rId3">
            <a:alphaModFix/>
          </a:blip>
          <a:srcRect b="0" l="0" r="0" t="0"/>
          <a:stretch/>
        </p:blipFill>
        <p:spPr>
          <a:xfrm>
            <a:off x="2875280" y="1483360"/>
            <a:ext cx="1057275" cy="619125"/>
          </a:xfrm>
          <a:prstGeom prst="rect">
            <a:avLst/>
          </a:prstGeom>
          <a:noFill/>
          <a:ln>
            <a:noFill/>
          </a:ln>
        </p:spPr>
      </p:pic>
      <p:pic>
        <p:nvPicPr>
          <p:cNvPr id="614" name="Google Shape;614;p24"/>
          <p:cNvPicPr preferRelativeResize="0"/>
          <p:nvPr/>
        </p:nvPicPr>
        <p:blipFill rotWithShape="1">
          <a:blip r:embed="rId4">
            <a:alphaModFix/>
          </a:blip>
          <a:srcRect b="0" l="0" r="0" t="0"/>
          <a:stretch/>
        </p:blipFill>
        <p:spPr>
          <a:xfrm>
            <a:off x="2316480" y="3037205"/>
            <a:ext cx="4048125" cy="1095375"/>
          </a:xfrm>
          <a:prstGeom prst="rect">
            <a:avLst/>
          </a:prstGeom>
          <a:noFill/>
          <a:ln>
            <a:noFill/>
          </a:ln>
        </p:spPr>
      </p:pic>
      <p:sp>
        <p:nvSpPr>
          <p:cNvPr id="615" name="Google Shape;615;p24"/>
          <p:cNvSpPr/>
          <p:nvPr/>
        </p:nvSpPr>
        <p:spPr>
          <a:xfrm>
            <a:off x="822960" y="1108948"/>
            <a:ext cx="3127779"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Mean (𝜇)</a:t>
            </a:r>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The mean (average) is calculated as: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6" name="Google Shape;616;p24"/>
          <p:cNvSpPr/>
          <p:nvPr/>
        </p:nvSpPr>
        <p:spPr>
          <a:xfrm>
            <a:off x="802640" y="2088028"/>
            <a:ext cx="4043680"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Where:</a:t>
            </a:r>
            <a:endParaRPr b="0" i="0" sz="1400" u="none" cap="none" strike="noStrike">
              <a:solidFill>
                <a:schemeClr val="dk1"/>
              </a:solidFill>
              <a:latin typeface="Arial"/>
              <a:ea typeface="Arial"/>
              <a:cs typeface="Arial"/>
              <a:sym typeface="Arial"/>
            </a:endParaRPr>
          </a:p>
          <a:p>
            <a:pPr indent="-88900" lvl="0" marL="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X is each value in the dataset</a:t>
            </a:r>
            <a:endParaRPr b="0" i="0" sz="1400" u="none" cap="none" strike="noStrike">
              <a:solidFill>
                <a:schemeClr val="dk1"/>
              </a:solidFill>
              <a:latin typeface="Calibri"/>
              <a:ea typeface="Calibri"/>
              <a:cs typeface="Calibri"/>
              <a:sym typeface="Calibri"/>
            </a:endParaRPr>
          </a:p>
          <a:p>
            <a:pPr indent="-88900" lvl="0" marL="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N is the total number of values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7" name="Google Shape;617;p24"/>
          <p:cNvSpPr/>
          <p:nvPr/>
        </p:nvSpPr>
        <p:spPr>
          <a:xfrm>
            <a:off x="687126" y="4127368"/>
            <a:ext cx="3659976" cy="308161"/>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400" u="none" cap="none" strike="noStrike">
                <a:solidFill>
                  <a:schemeClr val="dk1"/>
                </a:solidFill>
                <a:latin typeface="Inter"/>
                <a:ea typeface="Inter"/>
                <a:cs typeface="Inter"/>
                <a:sym typeface="Inter"/>
              </a:rPr>
              <a:t>So, the mean donation is $139.5$ million.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2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Central Tendency</a:t>
            </a:r>
            <a:br>
              <a:rPr lang="en-US">
                <a:latin typeface="Inter"/>
                <a:ea typeface="Inter"/>
                <a:cs typeface="Inter"/>
                <a:sym typeface="Inter"/>
              </a:rPr>
            </a:br>
            <a:endParaRPr/>
          </a:p>
        </p:txBody>
      </p:sp>
      <p:sp>
        <p:nvSpPr>
          <p:cNvPr id="623" name="Google Shape;623;p25"/>
          <p:cNvSpPr/>
          <p:nvPr/>
        </p:nvSpPr>
        <p:spPr>
          <a:xfrm>
            <a:off x="1292916" y="4138798"/>
            <a:ext cx="3740126" cy="308161"/>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400" u="none" cap="none" strike="noStrike">
                <a:solidFill>
                  <a:schemeClr val="dk1"/>
                </a:solidFill>
                <a:latin typeface="Inter"/>
                <a:ea typeface="Inter"/>
                <a:cs typeface="Inter"/>
                <a:sym typeface="Inter"/>
              </a:rPr>
              <a:t>So, the median donation is $86.5$ million.</a:t>
            </a:r>
            <a:endParaRPr/>
          </a:p>
        </p:txBody>
      </p:sp>
      <p:sp>
        <p:nvSpPr>
          <p:cNvPr id="624" name="Google Shape;624;p25"/>
          <p:cNvSpPr/>
          <p:nvPr/>
        </p:nvSpPr>
        <p:spPr>
          <a:xfrm>
            <a:off x="904240" y="997060"/>
            <a:ext cx="7085330" cy="181588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Inter"/>
                <a:ea typeface="Inter"/>
                <a:cs typeface="Inter"/>
                <a:sym typeface="Inter"/>
              </a:rPr>
              <a:t>Median (M)</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The median is the middle value when the data is arranged in ascending order.</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Ordered data:</a:t>
            </a:r>
            <a:endParaRPr b="0" i="0" sz="1400" u="none" cap="none" strike="noStrike">
              <a:solidFill>
                <a:schemeClr val="dk1"/>
              </a:solidFill>
              <a:latin typeface="Inter"/>
              <a:ea typeface="Inter"/>
              <a:cs typeface="Inter"/>
              <a:sym typeface="Inter"/>
            </a:endParaRPr>
          </a:p>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Inter"/>
                <a:ea typeface="Inter"/>
                <a:cs typeface="Inter"/>
                <a:sym typeface="Inter"/>
              </a:rPr>
              <a:t>21,26,63,63,110,199,315,319</a:t>
            </a:r>
            <a:endParaRPr b="1"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Since there are </a:t>
            </a:r>
            <a:r>
              <a:rPr b="1" i="0" lang="en-US" sz="1400" u="none" cap="none" strike="noStrike">
                <a:solidFill>
                  <a:schemeClr val="dk1"/>
                </a:solidFill>
                <a:latin typeface="Inter"/>
                <a:ea typeface="Inter"/>
                <a:cs typeface="Inter"/>
                <a:sym typeface="Inter"/>
              </a:rPr>
              <a:t>8 values (even number)</a:t>
            </a:r>
            <a:r>
              <a:rPr b="0" i="0" lang="en-US" sz="1400" u="none" cap="none" strike="noStrike">
                <a:solidFill>
                  <a:schemeClr val="dk1"/>
                </a:solidFill>
                <a:latin typeface="Inter"/>
                <a:ea typeface="Inter"/>
                <a:cs typeface="Inter"/>
                <a:sym typeface="Inter"/>
              </a:rPr>
              <a:t>, the median is the average of the 4th and 5th values:</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a:ea typeface="Inter"/>
              <a:cs typeface="Inter"/>
              <a:sym typeface="Inter"/>
            </a:endParaRPr>
          </a:p>
        </p:txBody>
      </p:sp>
      <p:pic>
        <p:nvPicPr>
          <p:cNvPr id="625" name="Google Shape;625;p25"/>
          <p:cNvPicPr preferRelativeResize="0"/>
          <p:nvPr/>
        </p:nvPicPr>
        <p:blipFill rotWithShape="1">
          <a:blip r:embed="rId3">
            <a:alphaModFix/>
          </a:blip>
          <a:srcRect b="0" l="0" r="0" t="0"/>
          <a:stretch/>
        </p:blipFill>
        <p:spPr>
          <a:xfrm>
            <a:off x="2415540" y="2998470"/>
            <a:ext cx="2381250" cy="4953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Central Tendency</a:t>
            </a:r>
            <a:br>
              <a:rPr lang="en-US"/>
            </a:br>
            <a:endParaRPr/>
          </a:p>
        </p:txBody>
      </p:sp>
      <p:sp>
        <p:nvSpPr>
          <p:cNvPr id="631" name="Google Shape;631;p26"/>
          <p:cNvSpPr/>
          <p:nvPr/>
        </p:nvSpPr>
        <p:spPr>
          <a:xfrm>
            <a:off x="920398" y="1083725"/>
            <a:ext cx="4360489" cy="224676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Mode</a:t>
            </a:r>
            <a:endParaRPr/>
          </a:p>
          <a:p>
            <a:pPr indent="0" lvl="0" marL="0" marR="0" rtl="0" algn="l">
              <a:lnSpc>
                <a:spcPct val="100000"/>
              </a:lnSpc>
              <a:spcBef>
                <a:spcPts val="0"/>
              </a:spcBef>
              <a:spcAft>
                <a:spcPts val="0"/>
              </a:spcAft>
              <a:buNone/>
            </a:pPr>
            <a:r>
              <a:t/>
            </a:r>
            <a:endParaRPr b="1"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mode is the most frequently occurring value.</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From the ordered dataset:</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21,26,</a:t>
            </a:r>
            <a:r>
              <a:rPr b="1" i="0" lang="en-US" sz="1400" u="none" cap="none" strike="noStrike">
                <a:solidFill>
                  <a:schemeClr val="dk1"/>
                </a:solidFill>
                <a:latin typeface="Inter"/>
                <a:ea typeface="Inter"/>
                <a:cs typeface="Inter"/>
                <a:sym typeface="Inter"/>
              </a:rPr>
              <a:t>63</a:t>
            </a:r>
            <a:r>
              <a:rPr b="0" i="0" lang="en-US" sz="1400" u="none" cap="none" strike="noStrike">
                <a:solidFill>
                  <a:schemeClr val="dk1"/>
                </a:solidFill>
                <a:latin typeface="Inter"/>
                <a:ea typeface="Inter"/>
                <a:cs typeface="Inter"/>
                <a:sym typeface="Inter"/>
              </a:rPr>
              <a:t>,</a:t>
            </a:r>
            <a:r>
              <a:rPr b="1" i="0" lang="en-US" sz="1400" u="none" cap="none" strike="noStrike">
                <a:solidFill>
                  <a:schemeClr val="dk1"/>
                </a:solidFill>
                <a:latin typeface="Inter"/>
                <a:ea typeface="Inter"/>
                <a:cs typeface="Inter"/>
                <a:sym typeface="Inter"/>
              </a:rPr>
              <a:t>63</a:t>
            </a:r>
            <a:r>
              <a:rPr b="0" i="0" lang="en-US" sz="1400" u="none" cap="none" strike="noStrike">
                <a:solidFill>
                  <a:schemeClr val="dk1"/>
                </a:solidFill>
                <a:latin typeface="Inter"/>
                <a:ea typeface="Inter"/>
                <a:cs typeface="Inter"/>
                <a:sym typeface="Inter"/>
              </a:rPr>
              <a:t>,110,199,315,319</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value 63 appears twice, making it the mode.</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So, the mode donation is $63$ million.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Dispersion</a:t>
            </a:r>
            <a:endParaRPr/>
          </a:p>
        </p:txBody>
      </p:sp>
      <p:pic>
        <p:nvPicPr>
          <p:cNvPr id="637" name="Google Shape;637;p27"/>
          <p:cNvPicPr preferRelativeResize="0"/>
          <p:nvPr/>
        </p:nvPicPr>
        <p:blipFill rotWithShape="1">
          <a:blip r:embed="rId3">
            <a:alphaModFix/>
          </a:blip>
          <a:srcRect b="0" l="0" r="0" t="0"/>
          <a:stretch/>
        </p:blipFill>
        <p:spPr>
          <a:xfrm>
            <a:off x="3531476" y="1340069"/>
            <a:ext cx="1504950" cy="600075"/>
          </a:xfrm>
          <a:prstGeom prst="rect">
            <a:avLst/>
          </a:prstGeom>
          <a:noFill/>
          <a:ln>
            <a:noFill/>
          </a:ln>
        </p:spPr>
      </p:pic>
      <p:pic>
        <p:nvPicPr>
          <p:cNvPr id="638" name="Google Shape;638;p27"/>
          <p:cNvPicPr preferRelativeResize="0"/>
          <p:nvPr/>
        </p:nvPicPr>
        <p:blipFill rotWithShape="1">
          <a:blip r:embed="rId4">
            <a:alphaModFix/>
          </a:blip>
          <a:srcRect b="0" l="0" r="0" t="0"/>
          <a:stretch/>
        </p:blipFill>
        <p:spPr>
          <a:xfrm>
            <a:off x="2900855" y="2129330"/>
            <a:ext cx="1782489" cy="340600"/>
          </a:xfrm>
          <a:prstGeom prst="rect">
            <a:avLst/>
          </a:prstGeom>
          <a:noFill/>
          <a:ln>
            <a:noFill/>
          </a:ln>
        </p:spPr>
      </p:pic>
      <p:pic>
        <p:nvPicPr>
          <p:cNvPr id="639" name="Google Shape;639;p27"/>
          <p:cNvPicPr preferRelativeResize="0"/>
          <p:nvPr/>
        </p:nvPicPr>
        <p:blipFill rotWithShape="1">
          <a:blip r:embed="rId5">
            <a:alphaModFix/>
          </a:blip>
          <a:srcRect b="0" l="0" r="0" t="0"/>
          <a:stretch/>
        </p:blipFill>
        <p:spPr>
          <a:xfrm>
            <a:off x="1240221" y="2529709"/>
            <a:ext cx="5943600" cy="2466975"/>
          </a:xfrm>
          <a:prstGeom prst="rect">
            <a:avLst/>
          </a:prstGeom>
          <a:noFill/>
          <a:ln>
            <a:noFill/>
          </a:ln>
        </p:spPr>
      </p:pic>
      <p:sp>
        <p:nvSpPr>
          <p:cNvPr id="640" name="Google Shape;640;p27"/>
          <p:cNvSpPr/>
          <p:nvPr/>
        </p:nvSpPr>
        <p:spPr>
          <a:xfrm>
            <a:off x="861848" y="920813"/>
            <a:ext cx="7255512"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Inter"/>
                <a:ea typeface="Inter"/>
                <a:cs typeface="Inter"/>
                <a:sym typeface="Inter"/>
              </a:rPr>
              <a:t>Variance (𝜎²)</a:t>
            </a:r>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Variance measures how much the values deviate from the mean. It is calculated as: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a:ea typeface="Inter"/>
              <a:cs typeface="Inter"/>
              <a:sym typeface="Inter"/>
            </a:endParaRPr>
          </a:p>
        </p:txBody>
      </p:sp>
      <p:sp>
        <p:nvSpPr>
          <p:cNvPr id="641" name="Google Shape;641;p27"/>
          <p:cNvSpPr/>
          <p:nvPr/>
        </p:nvSpPr>
        <p:spPr>
          <a:xfrm>
            <a:off x="819806" y="1770761"/>
            <a:ext cx="7451835" cy="58477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Step 1: Calculate Each Deviation from the Mean</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2" name="Google Shape;642;p27"/>
          <p:cNvSpPr/>
          <p:nvPr/>
        </p:nvSpPr>
        <p:spPr>
          <a:xfrm>
            <a:off x="672662" y="2340523"/>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3" name="Google Shape;643;p27"/>
          <p:cNvSpPr/>
          <p:nvPr/>
        </p:nvSpPr>
        <p:spPr>
          <a:xfrm>
            <a:off x="672662" y="480749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2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Dispersion</a:t>
            </a:r>
            <a:endParaRPr/>
          </a:p>
        </p:txBody>
      </p:sp>
      <p:pic>
        <p:nvPicPr>
          <p:cNvPr id="649" name="Google Shape;649;p28"/>
          <p:cNvPicPr preferRelativeResize="0"/>
          <p:nvPr/>
        </p:nvPicPr>
        <p:blipFill rotWithShape="1">
          <a:blip r:embed="rId3">
            <a:alphaModFix/>
          </a:blip>
          <a:srcRect b="0" l="0" r="0" t="0"/>
          <a:stretch/>
        </p:blipFill>
        <p:spPr>
          <a:xfrm>
            <a:off x="3531476" y="1340069"/>
            <a:ext cx="1504950" cy="600075"/>
          </a:xfrm>
          <a:prstGeom prst="rect">
            <a:avLst/>
          </a:prstGeom>
          <a:noFill/>
          <a:ln>
            <a:noFill/>
          </a:ln>
        </p:spPr>
      </p:pic>
      <p:sp>
        <p:nvSpPr>
          <p:cNvPr id="650" name="Google Shape;650;p28"/>
          <p:cNvSpPr/>
          <p:nvPr/>
        </p:nvSpPr>
        <p:spPr>
          <a:xfrm>
            <a:off x="861848" y="920813"/>
            <a:ext cx="7255512"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Inter"/>
                <a:ea typeface="Inter"/>
                <a:cs typeface="Inter"/>
                <a:sym typeface="Inter"/>
              </a:rPr>
              <a:t>Variance (𝜎²)</a:t>
            </a:r>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Variance measures how much the values deviate from the mean. It is calculated as: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a:ea typeface="Inter"/>
              <a:cs typeface="Inter"/>
              <a:sym typeface="Inter"/>
            </a:endParaRPr>
          </a:p>
        </p:txBody>
      </p:sp>
      <p:sp>
        <p:nvSpPr>
          <p:cNvPr id="651" name="Google Shape;651;p28"/>
          <p:cNvSpPr/>
          <p:nvPr/>
        </p:nvSpPr>
        <p:spPr>
          <a:xfrm>
            <a:off x="672662" y="480749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2" name="Google Shape;652;p28"/>
          <p:cNvSpPr/>
          <p:nvPr/>
        </p:nvSpPr>
        <p:spPr>
          <a:xfrm>
            <a:off x="914400" y="1795790"/>
            <a:ext cx="2412840"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Step 2: Compute Variance</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653" name="Google Shape;653;p28"/>
          <p:cNvPicPr preferRelativeResize="0"/>
          <p:nvPr/>
        </p:nvPicPr>
        <p:blipFill rotWithShape="1">
          <a:blip r:embed="rId4">
            <a:alphaModFix/>
          </a:blip>
          <a:srcRect b="0" l="0" r="0" t="0"/>
          <a:stretch/>
        </p:blipFill>
        <p:spPr>
          <a:xfrm>
            <a:off x="914400" y="2286000"/>
            <a:ext cx="5943600" cy="866775"/>
          </a:xfrm>
          <a:prstGeom prst="rect">
            <a:avLst/>
          </a:prstGeom>
          <a:noFill/>
          <a:ln>
            <a:noFill/>
          </a:ln>
        </p:spPr>
      </p:pic>
      <p:sp>
        <p:nvSpPr>
          <p:cNvPr id="654" name="Google Shape;654;p28"/>
          <p:cNvSpPr/>
          <p:nvPr/>
        </p:nvSpPr>
        <p:spPr>
          <a:xfrm>
            <a:off x="924910" y="3188235"/>
            <a:ext cx="5612524" cy="30777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So, the variance is </a:t>
            </a:r>
            <a:r>
              <a:rPr b="1" i="0" lang="en-US" sz="1400" u="none" cap="none" strike="noStrike">
                <a:solidFill>
                  <a:schemeClr val="dk1"/>
                </a:solidFill>
                <a:latin typeface="Inter"/>
                <a:ea typeface="Inter"/>
                <a:cs typeface="Inter"/>
                <a:sym typeface="Inter"/>
              </a:rPr>
              <a:t>$13255.88</a:t>
            </a:r>
            <a:r>
              <a:rPr b="1" i="0" lang="en-US" sz="1400" u="none" cap="none" strike="noStrike">
                <a:solidFill>
                  <a:schemeClr val="dk1"/>
                </a:solidFill>
                <a:latin typeface="Inter"/>
                <a:ea typeface="Inter"/>
                <a:cs typeface="Inter"/>
                <a:sym typeface="Inter"/>
              </a:rPr>
              <a:t> million</a:t>
            </a:r>
            <a:r>
              <a:rPr b="0" i="0" lang="en-US" sz="1400" u="none" cap="none" strike="noStrike">
                <a:solidFill>
                  <a:schemeClr val="dk1"/>
                </a:solidFill>
                <a:latin typeface="Inter"/>
                <a:ea typeface="Inter"/>
                <a:cs typeface="Inter"/>
                <a:sym typeface="Inter"/>
              </a:rPr>
              <a:t>.</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Dispersion</a:t>
            </a:r>
            <a:endParaRPr/>
          </a:p>
        </p:txBody>
      </p:sp>
      <p:sp>
        <p:nvSpPr>
          <p:cNvPr id="660" name="Google Shape;660;p29"/>
          <p:cNvSpPr/>
          <p:nvPr/>
        </p:nvSpPr>
        <p:spPr>
          <a:xfrm>
            <a:off x="918998" y="1062825"/>
            <a:ext cx="4729180"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Standard Deviation (𝜎)</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standard deviation is the square root of variance:</a:t>
            </a:r>
            <a:endParaRPr/>
          </a:p>
        </p:txBody>
      </p:sp>
      <p:sp>
        <p:nvSpPr>
          <p:cNvPr id="661" name="Google Shape;661;p29"/>
          <p:cNvSpPr/>
          <p:nvPr/>
        </p:nvSpPr>
        <p:spPr>
          <a:xfrm>
            <a:off x="672662" y="480749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2" name="Google Shape;662;p29"/>
          <p:cNvSpPr/>
          <p:nvPr/>
        </p:nvSpPr>
        <p:spPr>
          <a:xfrm>
            <a:off x="924910" y="3188235"/>
            <a:ext cx="5612524" cy="30777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So, the standard deviation is </a:t>
            </a:r>
            <a:r>
              <a:rPr b="1" i="0" lang="en-US" sz="1400" u="none" cap="none" strike="noStrike">
                <a:solidFill>
                  <a:schemeClr val="dk1"/>
                </a:solidFill>
                <a:latin typeface="Inter"/>
                <a:ea typeface="Inter"/>
                <a:cs typeface="Inter"/>
                <a:sym typeface="Inter"/>
              </a:rPr>
              <a:t>$115.18 million</a:t>
            </a:r>
            <a:endParaRPr b="1" i="0" sz="1400" u="none" cap="none" strike="noStrike">
              <a:solidFill>
                <a:schemeClr val="dk1"/>
              </a:solidFill>
              <a:latin typeface="Inter"/>
              <a:ea typeface="Inter"/>
              <a:cs typeface="Inter"/>
              <a:sym typeface="Inter"/>
            </a:endParaRPr>
          </a:p>
        </p:txBody>
      </p:sp>
      <p:pic>
        <p:nvPicPr>
          <p:cNvPr id="663" name="Google Shape;663;p29"/>
          <p:cNvPicPr preferRelativeResize="0"/>
          <p:nvPr/>
        </p:nvPicPr>
        <p:blipFill rotWithShape="1">
          <a:blip r:embed="rId3">
            <a:alphaModFix/>
          </a:blip>
          <a:srcRect b="0" l="0" r="0" t="0"/>
          <a:stretch/>
        </p:blipFill>
        <p:spPr>
          <a:xfrm>
            <a:off x="3240405" y="1985962"/>
            <a:ext cx="2114550" cy="485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Dispersion</a:t>
            </a:r>
            <a:endParaRPr/>
          </a:p>
        </p:txBody>
      </p:sp>
      <p:sp>
        <p:nvSpPr>
          <p:cNvPr id="669" name="Google Shape;669;p30"/>
          <p:cNvSpPr/>
          <p:nvPr/>
        </p:nvSpPr>
        <p:spPr>
          <a:xfrm>
            <a:off x="672662" y="2340523"/>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0" name="Google Shape;670;p30"/>
          <p:cNvSpPr/>
          <p:nvPr/>
        </p:nvSpPr>
        <p:spPr>
          <a:xfrm>
            <a:off x="834390" y="20859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671" name="Google Shape;671;p30"/>
          <p:cNvPicPr preferRelativeResize="0"/>
          <p:nvPr/>
        </p:nvPicPr>
        <p:blipFill rotWithShape="1">
          <a:blip r:embed="rId3">
            <a:alphaModFix/>
          </a:blip>
          <a:srcRect b="0" l="0" r="0" t="0"/>
          <a:stretch/>
        </p:blipFill>
        <p:spPr>
          <a:xfrm>
            <a:off x="3680460" y="2903220"/>
            <a:ext cx="2238375" cy="685800"/>
          </a:xfrm>
          <a:prstGeom prst="rect">
            <a:avLst/>
          </a:prstGeom>
          <a:noFill/>
          <a:ln>
            <a:noFill/>
          </a:ln>
        </p:spPr>
      </p:pic>
      <p:sp>
        <p:nvSpPr>
          <p:cNvPr id="672" name="Google Shape;672;p30"/>
          <p:cNvSpPr/>
          <p:nvPr/>
        </p:nvSpPr>
        <p:spPr>
          <a:xfrm>
            <a:off x="914400" y="1021447"/>
            <a:ext cx="7715250" cy="2026188"/>
          </a:xfrm>
          <a:prstGeom prst="rect">
            <a:avLst/>
          </a:prstGeom>
          <a:noFill/>
          <a:ln>
            <a:noFill/>
          </a:ln>
        </p:spPr>
        <p:txBody>
          <a:bodyPr anchorCtr="0" anchor="ctr" bIns="0" lIns="91425" spcFirstLastPara="1" rIns="91425" wrap="square" tIns="25375">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Inter"/>
                <a:ea typeface="Inter"/>
                <a:cs typeface="Inter"/>
                <a:sym typeface="Inter"/>
              </a:rPr>
              <a:t>Interquartile</a:t>
            </a:r>
            <a:r>
              <a:rPr b="1" i="0" lang="en-US" sz="1300" u="none" cap="none" strike="noStrike">
                <a:solidFill>
                  <a:schemeClr val="dk1"/>
                </a:solidFill>
                <a:latin typeface="Arial"/>
                <a:ea typeface="Arial"/>
                <a:cs typeface="Arial"/>
                <a:sym typeface="Arial"/>
              </a:rPr>
              <a:t> </a:t>
            </a:r>
            <a:r>
              <a:rPr b="1" i="0" lang="en-US" sz="1400" u="none" cap="none" strike="noStrike">
                <a:solidFill>
                  <a:schemeClr val="dk1"/>
                </a:solidFill>
                <a:latin typeface="Inter"/>
                <a:ea typeface="Inter"/>
                <a:cs typeface="Inter"/>
                <a:sym typeface="Inter"/>
              </a:rPr>
              <a:t>Range (IQR)</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IQR = Q3 - Q1</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Step 1: Find Q1 (First Quartile)</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Q1 is the median of the lower half:</a:t>
            </a:r>
            <a:endParaRPr/>
          </a:p>
          <a:p>
            <a:pPr indent="0" lvl="0" marL="0" marR="0" rtl="0" algn="ctr">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21,</a:t>
            </a:r>
            <a:r>
              <a:rPr b="1" i="0" lang="en-US" sz="1400" u="none" cap="none" strike="noStrike">
                <a:solidFill>
                  <a:schemeClr val="dk1"/>
                </a:solidFill>
                <a:latin typeface="Inter"/>
                <a:ea typeface="Inter"/>
                <a:cs typeface="Inter"/>
                <a:sym typeface="Inter"/>
              </a:rPr>
              <a:t>26,63</a:t>
            </a:r>
            <a:r>
              <a:rPr b="0" i="0" lang="en-US" sz="1400" u="none" cap="none" strike="noStrike">
                <a:solidFill>
                  <a:schemeClr val="dk1"/>
                </a:solidFill>
                <a:latin typeface="Inter"/>
                <a:ea typeface="Inter"/>
                <a:cs typeface="Inter"/>
                <a:sym typeface="Inter"/>
              </a:rPr>
              <a:t>,63</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median of this subset is:</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Dispersion</a:t>
            </a:r>
            <a:endParaRPr/>
          </a:p>
        </p:txBody>
      </p:sp>
      <p:sp>
        <p:nvSpPr>
          <p:cNvPr id="678" name="Google Shape;678;p31"/>
          <p:cNvSpPr/>
          <p:nvPr/>
        </p:nvSpPr>
        <p:spPr>
          <a:xfrm>
            <a:off x="672662" y="2340523"/>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9" name="Google Shape;679;p31"/>
          <p:cNvSpPr/>
          <p:nvPr/>
        </p:nvSpPr>
        <p:spPr>
          <a:xfrm>
            <a:off x="834390" y="20859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680" name="Google Shape;680;p31"/>
          <p:cNvPicPr preferRelativeResize="0"/>
          <p:nvPr/>
        </p:nvPicPr>
        <p:blipFill rotWithShape="1">
          <a:blip r:embed="rId3">
            <a:alphaModFix/>
          </a:blip>
          <a:srcRect b="0" l="0" r="0" t="0"/>
          <a:stretch/>
        </p:blipFill>
        <p:spPr>
          <a:xfrm>
            <a:off x="3691890" y="2388870"/>
            <a:ext cx="2457450" cy="561975"/>
          </a:xfrm>
          <a:prstGeom prst="rect">
            <a:avLst/>
          </a:prstGeom>
          <a:noFill/>
          <a:ln>
            <a:noFill/>
          </a:ln>
        </p:spPr>
      </p:pic>
      <p:sp>
        <p:nvSpPr>
          <p:cNvPr id="681" name="Google Shape;681;p31"/>
          <p:cNvSpPr/>
          <p:nvPr/>
        </p:nvSpPr>
        <p:spPr>
          <a:xfrm>
            <a:off x="1017270" y="1081722"/>
            <a:ext cx="7589520" cy="1379857"/>
          </a:xfrm>
          <a:prstGeom prst="rect">
            <a:avLst/>
          </a:prstGeom>
          <a:noFill/>
          <a:ln>
            <a:noFill/>
          </a:ln>
        </p:spPr>
        <p:txBody>
          <a:bodyPr anchorCtr="0" anchor="ctr" bIns="0" lIns="91425" spcFirstLastPara="1" rIns="91425" wrap="square" tIns="25375">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Step 2: Find Q3 (Third Quartile)</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Q3 is the median of the upper half:</a:t>
            </a:r>
            <a:endParaRPr/>
          </a:p>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110,</a:t>
            </a:r>
            <a:r>
              <a:rPr b="1" i="0" lang="en-US" sz="1400" u="none" cap="none" strike="noStrike">
                <a:solidFill>
                  <a:schemeClr val="dk1"/>
                </a:solidFill>
                <a:latin typeface="Inter"/>
                <a:ea typeface="Inter"/>
                <a:cs typeface="Inter"/>
                <a:sym typeface="Inter"/>
              </a:rPr>
              <a:t>199,315</a:t>
            </a:r>
            <a:r>
              <a:rPr b="0" i="0" lang="en-US" sz="1400" u="none" cap="none" strike="noStrike">
                <a:solidFill>
                  <a:schemeClr val="dk1"/>
                </a:solidFill>
                <a:latin typeface="Inter"/>
                <a:ea typeface="Inter"/>
                <a:cs typeface="Inter"/>
                <a:sym typeface="Inter"/>
              </a:rPr>
              <a:t>,319</a:t>
            </a:r>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The median of this subset is:</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Measures of Dispersion</a:t>
            </a:r>
            <a:endParaRPr/>
          </a:p>
        </p:txBody>
      </p:sp>
      <p:sp>
        <p:nvSpPr>
          <p:cNvPr id="687" name="Google Shape;687;p32"/>
          <p:cNvSpPr/>
          <p:nvPr/>
        </p:nvSpPr>
        <p:spPr>
          <a:xfrm>
            <a:off x="672662" y="2340523"/>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8" name="Google Shape;688;p32"/>
          <p:cNvSpPr/>
          <p:nvPr/>
        </p:nvSpPr>
        <p:spPr>
          <a:xfrm>
            <a:off x="834390" y="20859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689" name="Google Shape;689;p32"/>
          <p:cNvPicPr preferRelativeResize="0"/>
          <p:nvPr/>
        </p:nvPicPr>
        <p:blipFill rotWithShape="1">
          <a:blip r:embed="rId3">
            <a:alphaModFix/>
          </a:blip>
          <a:srcRect b="0" l="0" r="0" t="0"/>
          <a:stretch/>
        </p:blipFill>
        <p:spPr>
          <a:xfrm>
            <a:off x="3611880" y="1670685"/>
            <a:ext cx="3114675" cy="352425"/>
          </a:xfrm>
          <a:prstGeom prst="rect">
            <a:avLst/>
          </a:prstGeom>
          <a:noFill/>
          <a:ln>
            <a:noFill/>
          </a:ln>
        </p:spPr>
      </p:pic>
      <p:sp>
        <p:nvSpPr>
          <p:cNvPr id="690" name="Google Shape;690;p32"/>
          <p:cNvSpPr/>
          <p:nvPr/>
        </p:nvSpPr>
        <p:spPr>
          <a:xfrm>
            <a:off x="994410" y="1251614"/>
            <a:ext cx="7235190" cy="58477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Inter"/>
                <a:ea typeface="Inter"/>
                <a:cs typeface="Inter"/>
                <a:sym typeface="Inter"/>
              </a:rPr>
              <a:t>Step 3: Compute IQR</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91" name="Google Shape;691;p32"/>
          <p:cNvSpPr/>
          <p:nvPr/>
        </p:nvSpPr>
        <p:spPr>
          <a:xfrm>
            <a:off x="1360170" y="2194976"/>
            <a:ext cx="7303770" cy="30777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So, the IQR is </a:t>
            </a:r>
            <a:r>
              <a:rPr b="1" i="0" lang="en-US" sz="1400" u="none" cap="none" strike="noStrike">
                <a:solidFill>
                  <a:schemeClr val="dk1"/>
                </a:solidFill>
                <a:latin typeface="Inter"/>
                <a:ea typeface="Inter"/>
                <a:cs typeface="Inter"/>
                <a:sym typeface="Inter"/>
              </a:rPr>
              <a:t>$212.5 million.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3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697" name="Google Shape;697;p33"/>
          <p:cNvSpPr/>
          <p:nvPr/>
        </p:nvSpPr>
        <p:spPr>
          <a:xfrm>
            <a:off x="961941" y="1080552"/>
            <a:ext cx="598914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Skewness</a:t>
            </a:r>
            <a:r>
              <a:rPr b="0" i="0" lang="en-US" sz="1400" u="none" cap="none" strike="noStrike">
                <a:solidFill>
                  <a:schemeClr val="dk1"/>
                </a:solidFill>
                <a:latin typeface="Inter"/>
                <a:ea typeface="Inter"/>
                <a:cs typeface="Inter"/>
                <a:sym typeface="Inter"/>
              </a:rPr>
              <a:t>:</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Skewness measures the asymmetry of a distribution. The formula is:</a:t>
            </a:r>
            <a:endParaRPr/>
          </a:p>
        </p:txBody>
      </p:sp>
      <p:pic>
        <p:nvPicPr>
          <p:cNvPr id="698" name="Google Shape;698;p33"/>
          <p:cNvPicPr preferRelativeResize="0"/>
          <p:nvPr/>
        </p:nvPicPr>
        <p:blipFill rotWithShape="1">
          <a:blip r:embed="rId3">
            <a:alphaModFix/>
          </a:blip>
          <a:srcRect b="0" l="0" r="0" t="0"/>
          <a:stretch/>
        </p:blipFill>
        <p:spPr>
          <a:xfrm>
            <a:off x="3359467" y="1656397"/>
            <a:ext cx="1647825" cy="619125"/>
          </a:xfrm>
          <a:prstGeom prst="rect">
            <a:avLst/>
          </a:prstGeom>
          <a:noFill/>
          <a:ln>
            <a:noFill/>
          </a:ln>
        </p:spPr>
      </p:pic>
      <p:pic>
        <p:nvPicPr>
          <p:cNvPr id="699" name="Google Shape;699;p33"/>
          <p:cNvPicPr preferRelativeResize="0"/>
          <p:nvPr/>
        </p:nvPicPr>
        <p:blipFill rotWithShape="1">
          <a:blip r:embed="rId4">
            <a:alphaModFix/>
          </a:blip>
          <a:srcRect b="0" l="0" r="0" t="0"/>
          <a:stretch/>
        </p:blipFill>
        <p:spPr>
          <a:xfrm>
            <a:off x="1091565" y="2512695"/>
            <a:ext cx="2343150" cy="1695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705" name="Google Shape;705;p34"/>
          <p:cNvSpPr/>
          <p:nvPr/>
        </p:nvSpPr>
        <p:spPr>
          <a:xfrm>
            <a:off x="961941" y="1080552"/>
            <a:ext cx="108715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Skewness</a:t>
            </a:r>
            <a:endParaRPr/>
          </a:p>
        </p:txBody>
      </p:sp>
      <p:sp>
        <p:nvSpPr>
          <p:cNvPr id="706" name="Google Shape;706;p34"/>
          <p:cNvSpPr/>
          <p:nvPr/>
        </p:nvSpPr>
        <p:spPr>
          <a:xfrm>
            <a:off x="1783080" y="1555760"/>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Step 1: Compute the Mean (Xˉ\bar{X}Xˉ)</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mean is calculated as:</a:t>
            </a:r>
            <a:endParaRPr/>
          </a:p>
        </p:txBody>
      </p:sp>
      <p:pic>
        <p:nvPicPr>
          <p:cNvPr id="707" name="Google Shape;707;p34"/>
          <p:cNvPicPr preferRelativeResize="0"/>
          <p:nvPr/>
        </p:nvPicPr>
        <p:blipFill rotWithShape="1">
          <a:blip r:embed="rId3">
            <a:alphaModFix/>
          </a:blip>
          <a:srcRect b="0" l="0" r="0" t="0"/>
          <a:stretch/>
        </p:blipFill>
        <p:spPr>
          <a:xfrm>
            <a:off x="4014787" y="2276475"/>
            <a:ext cx="1114425" cy="590550"/>
          </a:xfrm>
          <a:prstGeom prst="rect">
            <a:avLst/>
          </a:prstGeom>
          <a:noFill/>
          <a:ln>
            <a:noFill/>
          </a:ln>
        </p:spPr>
      </p:pic>
      <p:pic>
        <p:nvPicPr>
          <p:cNvPr id="708" name="Google Shape;708;p34"/>
          <p:cNvPicPr preferRelativeResize="0"/>
          <p:nvPr/>
        </p:nvPicPr>
        <p:blipFill rotWithShape="1">
          <a:blip r:embed="rId4">
            <a:alphaModFix/>
          </a:blip>
          <a:srcRect b="0" l="0" r="0" t="0"/>
          <a:stretch/>
        </p:blipFill>
        <p:spPr>
          <a:xfrm>
            <a:off x="1879282" y="3313747"/>
            <a:ext cx="4676775" cy="5048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714" name="Google Shape;714;p35"/>
          <p:cNvSpPr/>
          <p:nvPr/>
        </p:nvSpPr>
        <p:spPr>
          <a:xfrm>
            <a:off x="961941" y="1080552"/>
            <a:ext cx="108715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Skewness</a:t>
            </a:r>
            <a:endParaRPr/>
          </a:p>
        </p:txBody>
      </p:sp>
      <p:sp>
        <p:nvSpPr>
          <p:cNvPr id="715" name="Google Shape;715;p35"/>
          <p:cNvSpPr/>
          <p:nvPr/>
        </p:nvSpPr>
        <p:spPr>
          <a:xfrm>
            <a:off x="1783080" y="1544330"/>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Step 2: Compute the Standard Deviation (sss)</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Standard deviation formula:</a:t>
            </a:r>
            <a:endParaRPr/>
          </a:p>
        </p:txBody>
      </p:sp>
      <p:pic>
        <p:nvPicPr>
          <p:cNvPr id="716" name="Google Shape;716;p35"/>
          <p:cNvPicPr preferRelativeResize="0"/>
          <p:nvPr/>
        </p:nvPicPr>
        <p:blipFill rotWithShape="1">
          <a:blip r:embed="rId3">
            <a:alphaModFix/>
          </a:blip>
          <a:srcRect b="0" l="0" r="0" t="0"/>
          <a:stretch/>
        </p:blipFill>
        <p:spPr>
          <a:xfrm>
            <a:off x="3671887" y="2228850"/>
            <a:ext cx="1800225" cy="8001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3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722" name="Google Shape;722;p36"/>
          <p:cNvSpPr/>
          <p:nvPr/>
        </p:nvSpPr>
        <p:spPr>
          <a:xfrm>
            <a:off x="961941" y="1080552"/>
            <a:ext cx="108715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Skewness</a:t>
            </a:r>
            <a:endParaRPr/>
          </a:p>
        </p:txBody>
      </p:sp>
      <p:pic>
        <p:nvPicPr>
          <p:cNvPr id="723" name="Google Shape;723;p36"/>
          <p:cNvPicPr preferRelativeResize="0"/>
          <p:nvPr/>
        </p:nvPicPr>
        <p:blipFill rotWithShape="1">
          <a:blip r:embed="rId3">
            <a:alphaModFix/>
          </a:blip>
          <a:srcRect b="0" l="0" r="0" t="0"/>
          <a:stretch/>
        </p:blipFill>
        <p:spPr>
          <a:xfrm>
            <a:off x="2125980" y="1432353"/>
            <a:ext cx="6556057" cy="305392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729" name="Google Shape;729;p37"/>
          <p:cNvSpPr/>
          <p:nvPr/>
        </p:nvSpPr>
        <p:spPr>
          <a:xfrm>
            <a:off x="961941" y="1080552"/>
            <a:ext cx="108715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Skewness</a:t>
            </a:r>
            <a:endParaRPr/>
          </a:p>
        </p:txBody>
      </p:sp>
      <p:pic>
        <p:nvPicPr>
          <p:cNvPr id="730" name="Google Shape;730;p37"/>
          <p:cNvPicPr preferRelativeResize="0"/>
          <p:nvPr/>
        </p:nvPicPr>
        <p:blipFill rotWithShape="1">
          <a:blip r:embed="rId3">
            <a:alphaModFix/>
          </a:blip>
          <a:srcRect b="0" l="0" r="0" t="51846"/>
          <a:stretch/>
        </p:blipFill>
        <p:spPr>
          <a:xfrm>
            <a:off x="1502092" y="1703070"/>
            <a:ext cx="3648075" cy="298132"/>
          </a:xfrm>
          <a:prstGeom prst="rect">
            <a:avLst/>
          </a:prstGeom>
          <a:noFill/>
          <a:ln>
            <a:noFill/>
          </a:ln>
        </p:spPr>
      </p:pic>
      <p:pic>
        <p:nvPicPr>
          <p:cNvPr id="731" name="Google Shape;731;p37"/>
          <p:cNvPicPr preferRelativeResize="0"/>
          <p:nvPr/>
        </p:nvPicPr>
        <p:blipFill rotWithShape="1">
          <a:blip r:embed="rId4">
            <a:alphaModFix/>
          </a:blip>
          <a:srcRect b="0" l="0" r="0" t="0"/>
          <a:stretch/>
        </p:blipFill>
        <p:spPr>
          <a:xfrm>
            <a:off x="1497330" y="2041708"/>
            <a:ext cx="6662737" cy="2723649"/>
          </a:xfrm>
          <a:prstGeom prst="rect">
            <a:avLst/>
          </a:prstGeom>
          <a:noFill/>
          <a:ln>
            <a:noFill/>
          </a:ln>
        </p:spPr>
      </p:pic>
      <p:sp>
        <p:nvSpPr>
          <p:cNvPr id="732" name="Google Shape;732;p37"/>
          <p:cNvSpPr/>
          <p:nvPr/>
        </p:nvSpPr>
        <p:spPr>
          <a:xfrm>
            <a:off x="1432476" y="1377732"/>
            <a:ext cx="36920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Step 3: Compute the Skewness Formula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738" name="Google Shape;738;p38"/>
          <p:cNvSpPr/>
          <p:nvPr/>
        </p:nvSpPr>
        <p:spPr>
          <a:xfrm>
            <a:off x="961941" y="1080552"/>
            <a:ext cx="108715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Skewness</a:t>
            </a:r>
            <a:endParaRPr/>
          </a:p>
        </p:txBody>
      </p:sp>
      <p:pic>
        <p:nvPicPr>
          <p:cNvPr id="739" name="Google Shape;739;p38"/>
          <p:cNvPicPr preferRelativeResize="0"/>
          <p:nvPr/>
        </p:nvPicPr>
        <p:blipFill rotWithShape="1">
          <a:blip r:embed="rId3">
            <a:alphaModFix/>
          </a:blip>
          <a:srcRect b="26792" l="33917" r="0" t="0"/>
          <a:stretch/>
        </p:blipFill>
        <p:spPr>
          <a:xfrm>
            <a:off x="2137410" y="1744980"/>
            <a:ext cx="3052762" cy="1478280"/>
          </a:xfrm>
          <a:prstGeom prst="rect">
            <a:avLst/>
          </a:prstGeom>
          <a:noFill/>
          <a:ln>
            <a:noFill/>
          </a:ln>
        </p:spPr>
      </p:pic>
      <p:sp>
        <p:nvSpPr>
          <p:cNvPr id="740" name="Google Shape;740;p38"/>
          <p:cNvSpPr/>
          <p:nvPr/>
        </p:nvSpPr>
        <p:spPr>
          <a:xfrm>
            <a:off x="1280160" y="3510290"/>
            <a:ext cx="522351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So, Skewness = 0.75, indicating a right-skewed distribution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746" name="Google Shape;746;p39"/>
          <p:cNvSpPr/>
          <p:nvPr/>
        </p:nvSpPr>
        <p:spPr>
          <a:xfrm>
            <a:off x="961941" y="1080552"/>
            <a:ext cx="92685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Kurtosis</a:t>
            </a:r>
            <a:endParaRPr b="1" i="0" sz="1400" u="none" cap="none" strike="noStrike">
              <a:solidFill>
                <a:schemeClr val="dk1"/>
              </a:solidFill>
              <a:latin typeface="Inter"/>
              <a:ea typeface="Inter"/>
              <a:cs typeface="Inter"/>
              <a:sym typeface="Inter"/>
            </a:endParaRPr>
          </a:p>
        </p:txBody>
      </p:sp>
      <p:pic>
        <p:nvPicPr>
          <p:cNvPr id="747" name="Google Shape;747;p39"/>
          <p:cNvPicPr preferRelativeResize="0"/>
          <p:nvPr/>
        </p:nvPicPr>
        <p:blipFill rotWithShape="1">
          <a:blip r:embed="rId3">
            <a:alphaModFix/>
          </a:blip>
          <a:srcRect b="0" l="56572" r="0" t="30435"/>
          <a:stretch/>
        </p:blipFill>
        <p:spPr>
          <a:xfrm>
            <a:off x="2686050" y="2297430"/>
            <a:ext cx="2039302" cy="609600"/>
          </a:xfrm>
          <a:prstGeom prst="rect">
            <a:avLst/>
          </a:prstGeom>
          <a:noFill/>
          <a:ln>
            <a:noFill/>
          </a:ln>
        </p:spPr>
      </p:pic>
      <p:sp>
        <p:nvSpPr>
          <p:cNvPr id="748" name="Google Shape;748;p39"/>
          <p:cNvSpPr/>
          <p:nvPr/>
        </p:nvSpPr>
        <p:spPr>
          <a:xfrm>
            <a:off x="994410" y="1395740"/>
            <a:ext cx="65379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Kurtosis measures the "tailedness" of a distribution. The formula is: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754" name="Google Shape;754;p40"/>
          <p:cNvSpPr/>
          <p:nvPr/>
        </p:nvSpPr>
        <p:spPr>
          <a:xfrm>
            <a:off x="961941" y="1080552"/>
            <a:ext cx="92685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Kurtosis</a:t>
            </a:r>
            <a:endParaRPr b="1" i="0" sz="1400" u="none" cap="none" strike="noStrike">
              <a:solidFill>
                <a:schemeClr val="dk1"/>
              </a:solidFill>
              <a:latin typeface="Inter"/>
              <a:ea typeface="Inter"/>
              <a:cs typeface="Inter"/>
              <a:sym typeface="Inter"/>
            </a:endParaRPr>
          </a:p>
        </p:txBody>
      </p:sp>
      <p:pic>
        <p:nvPicPr>
          <p:cNvPr id="755" name="Google Shape;755;p40"/>
          <p:cNvPicPr preferRelativeResize="0"/>
          <p:nvPr/>
        </p:nvPicPr>
        <p:blipFill rotWithShape="1">
          <a:blip r:embed="rId3">
            <a:alphaModFix/>
          </a:blip>
          <a:srcRect b="0" l="0" r="0" t="0"/>
          <a:stretch/>
        </p:blipFill>
        <p:spPr>
          <a:xfrm>
            <a:off x="1516380" y="1425892"/>
            <a:ext cx="7162800" cy="33432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4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Shape of Distribution</a:t>
            </a:r>
            <a:br>
              <a:rPr lang="en-US"/>
            </a:br>
            <a:endParaRPr/>
          </a:p>
        </p:txBody>
      </p:sp>
      <p:sp>
        <p:nvSpPr>
          <p:cNvPr id="761" name="Google Shape;761;p41"/>
          <p:cNvSpPr/>
          <p:nvPr/>
        </p:nvSpPr>
        <p:spPr>
          <a:xfrm>
            <a:off x="961941" y="1080552"/>
            <a:ext cx="92685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Kurtosis</a:t>
            </a:r>
            <a:endParaRPr b="1" i="0" sz="1400" u="none" cap="none" strike="noStrike">
              <a:solidFill>
                <a:schemeClr val="dk1"/>
              </a:solidFill>
              <a:latin typeface="Inter"/>
              <a:ea typeface="Inter"/>
              <a:cs typeface="Inter"/>
              <a:sym typeface="Inter"/>
            </a:endParaRPr>
          </a:p>
        </p:txBody>
      </p:sp>
      <p:pic>
        <p:nvPicPr>
          <p:cNvPr id="762" name="Google Shape;762;p41"/>
          <p:cNvPicPr preferRelativeResize="0"/>
          <p:nvPr/>
        </p:nvPicPr>
        <p:blipFill rotWithShape="1">
          <a:blip r:embed="rId3">
            <a:alphaModFix/>
          </a:blip>
          <a:srcRect b="21055" l="0" r="0" t="0"/>
          <a:stretch/>
        </p:blipFill>
        <p:spPr>
          <a:xfrm>
            <a:off x="1814512" y="1624013"/>
            <a:ext cx="5514975" cy="1496378"/>
          </a:xfrm>
          <a:prstGeom prst="rect">
            <a:avLst/>
          </a:prstGeom>
          <a:noFill/>
          <a:ln>
            <a:noFill/>
          </a:ln>
        </p:spPr>
      </p:pic>
      <p:sp>
        <p:nvSpPr>
          <p:cNvPr id="763" name="Google Shape;763;p41"/>
          <p:cNvSpPr/>
          <p:nvPr/>
        </p:nvSpPr>
        <p:spPr>
          <a:xfrm>
            <a:off x="1234440" y="3578870"/>
            <a:ext cx="653796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So, Kurtosis = -1.27, meaning the distribution is platykurtic (flatter than normal).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42"/>
          <p:cNvSpPr txBox="1"/>
          <p:nvPr>
            <p:ph type="title"/>
          </p:nvPr>
        </p:nvSpPr>
        <p:spPr>
          <a:xfrm>
            <a:off x="3151900" y="1636350"/>
            <a:ext cx="4150500" cy="1302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Univariate Graphical EDA</a:t>
            </a:r>
            <a:endParaRPr/>
          </a:p>
        </p:txBody>
      </p:sp>
      <p:sp>
        <p:nvSpPr>
          <p:cNvPr id="769" name="Google Shape;769;p42"/>
          <p:cNvSpPr txBox="1"/>
          <p:nvPr>
            <p:ph idx="2" type="title"/>
          </p:nvPr>
        </p:nvSpPr>
        <p:spPr>
          <a:xfrm>
            <a:off x="1475300" y="1690000"/>
            <a:ext cx="1294500" cy="908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US"/>
              <a:t>02.</a:t>
            </a:r>
            <a:endParaRPr/>
          </a:p>
        </p:txBody>
      </p:sp>
      <p:grpSp>
        <p:nvGrpSpPr>
          <p:cNvPr id="770" name="Google Shape;770;p42"/>
          <p:cNvGrpSpPr/>
          <p:nvPr/>
        </p:nvGrpSpPr>
        <p:grpSpPr>
          <a:xfrm>
            <a:off x="7783346" y="490666"/>
            <a:ext cx="901968" cy="901968"/>
            <a:chOff x="1350404" y="-3124999"/>
            <a:chExt cx="1570279" cy="1570279"/>
          </a:xfrm>
        </p:grpSpPr>
        <p:sp>
          <p:nvSpPr>
            <p:cNvPr id="771" name="Google Shape;771;p42"/>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2" name="Google Shape;772;p42"/>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3" name="Google Shape;773;p42"/>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4" name="Google Shape;774;p42"/>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75" name="Google Shape;775;p42"/>
          <p:cNvGrpSpPr/>
          <p:nvPr/>
        </p:nvGrpSpPr>
        <p:grpSpPr>
          <a:xfrm>
            <a:off x="713029" y="3447254"/>
            <a:ext cx="1266652" cy="1056012"/>
            <a:chOff x="5378191" y="1701500"/>
            <a:chExt cx="611171" cy="509535"/>
          </a:xfrm>
        </p:grpSpPr>
        <p:sp>
          <p:nvSpPr>
            <p:cNvPr id="776" name="Google Shape;776;p42"/>
            <p:cNvSpPr/>
            <p:nvPr/>
          </p:nvSpPr>
          <p:spPr>
            <a:xfrm>
              <a:off x="5378191" y="1701500"/>
              <a:ext cx="611171" cy="509535"/>
            </a:xfrm>
            <a:custGeom>
              <a:rect b="b" l="l" r="r" t="t"/>
              <a:pathLst>
                <a:path extrusionOk="0" h="1056032" w="1266676">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7" name="Google Shape;777;p42"/>
            <p:cNvSpPr/>
            <p:nvPr/>
          </p:nvSpPr>
          <p:spPr>
            <a:xfrm>
              <a:off x="5497928" y="1776815"/>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8" name="Google Shape;778;p42"/>
            <p:cNvSpPr/>
            <p:nvPr/>
          </p:nvSpPr>
          <p:spPr>
            <a:xfrm>
              <a:off x="5608451" y="1776815"/>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9" name="Google Shape;779;p42"/>
            <p:cNvSpPr/>
            <p:nvPr/>
          </p:nvSpPr>
          <p:spPr>
            <a:xfrm>
              <a:off x="5719011" y="1776815"/>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0" name="Google Shape;780;p42"/>
            <p:cNvSpPr/>
            <p:nvPr/>
          </p:nvSpPr>
          <p:spPr>
            <a:xfrm>
              <a:off x="5829571" y="1776815"/>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1" name="Google Shape;781;p42"/>
            <p:cNvSpPr/>
            <p:nvPr/>
          </p:nvSpPr>
          <p:spPr>
            <a:xfrm>
              <a:off x="5497928" y="1882549"/>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2" name="Google Shape;782;p42"/>
            <p:cNvSpPr/>
            <p:nvPr/>
          </p:nvSpPr>
          <p:spPr>
            <a:xfrm>
              <a:off x="5608451" y="1882549"/>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3" name="Google Shape;783;p42"/>
            <p:cNvSpPr/>
            <p:nvPr/>
          </p:nvSpPr>
          <p:spPr>
            <a:xfrm>
              <a:off x="5719011" y="1882549"/>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4" name="Google Shape;784;p42"/>
            <p:cNvSpPr/>
            <p:nvPr/>
          </p:nvSpPr>
          <p:spPr>
            <a:xfrm>
              <a:off x="5829571" y="1882549"/>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5" name="Google Shape;785;p42"/>
            <p:cNvSpPr/>
            <p:nvPr/>
          </p:nvSpPr>
          <p:spPr>
            <a:xfrm>
              <a:off x="5497928" y="1988320"/>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6" name="Google Shape;786;p42"/>
            <p:cNvSpPr/>
            <p:nvPr/>
          </p:nvSpPr>
          <p:spPr>
            <a:xfrm>
              <a:off x="5608451" y="1988320"/>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7" name="Google Shape;787;p42"/>
            <p:cNvSpPr/>
            <p:nvPr/>
          </p:nvSpPr>
          <p:spPr>
            <a:xfrm>
              <a:off x="5719011" y="198832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8" name="Google Shape;788;p42"/>
            <p:cNvSpPr/>
            <p:nvPr/>
          </p:nvSpPr>
          <p:spPr>
            <a:xfrm>
              <a:off x="5829571" y="198832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9" name="Google Shape;789;p42"/>
            <p:cNvSpPr/>
            <p:nvPr/>
          </p:nvSpPr>
          <p:spPr>
            <a:xfrm>
              <a:off x="5497928" y="2094090"/>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0" name="Google Shape;790;p42"/>
            <p:cNvSpPr/>
            <p:nvPr/>
          </p:nvSpPr>
          <p:spPr>
            <a:xfrm>
              <a:off x="5608451" y="2094090"/>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1" name="Google Shape;791;p42"/>
            <p:cNvSpPr/>
            <p:nvPr/>
          </p:nvSpPr>
          <p:spPr>
            <a:xfrm>
              <a:off x="5719011" y="209409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2" name="Google Shape;792;p42"/>
            <p:cNvSpPr/>
            <p:nvPr/>
          </p:nvSpPr>
          <p:spPr>
            <a:xfrm>
              <a:off x="5829571" y="209409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793" name="Google Shape;793;p42"/>
          <p:cNvSpPr/>
          <p:nvPr/>
        </p:nvSpPr>
        <p:spPr>
          <a:xfrm>
            <a:off x="2060027" y="3287602"/>
            <a:ext cx="547063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provide a visual approach to understanding the distribution and characteristics of a single variable.</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4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Histograms</a:t>
            </a:r>
            <a:endParaRPr/>
          </a:p>
        </p:txBody>
      </p:sp>
      <p:sp>
        <p:nvSpPr>
          <p:cNvPr id="799" name="Google Shape;799;p43"/>
          <p:cNvSpPr/>
          <p:nvPr/>
        </p:nvSpPr>
        <p:spPr>
          <a:xfrm>
            <a:off x="994410" y="1265158"/>
            <a:ext cx="494919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(for categorical data): a barplot of the tabulation of the data. Each bar represents the frequency or proportion of cases for a range of values.</a:t>
            </a:r>
            <a:endParaRPr/>
          </a:p>
        </p:txBody>
      </p:sp>
      <p:pic>
        <p:nvPicPr>
          <p:cNvPr id="800" name="Google Shape;800;p43"/>
          <p:cNvPicPr preferRelativeResize="0"/>
          <p:nvPr/>
        </p:nvPicPr>
        <p:blipFill rotWithShape="1">
          <a:blip r:embed="rId3">
            <a:alphaModFix/>
          </a:blip>
          <a:srcRect b="0" l="0" r="0" t="0"/>
          <a:stretch/>
        </p:blipFill>
        <p:spPr>
          <a:xfrm>
            <a:off x="5975743" y="1564957"/>
            <a:ext cx="2742489" cy="269843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Boxplots</a:t>
            </a:r>
            <a:endParaRPr/>
          </a:p>
        </p:txBody>
      </p:sp>
      <p:sp>
        <p:nvSpPr>
          <p:cNvPr id="806" name="Google Shape;806;p44"/>
          <p:cNvSpPr/>
          <p:nvPr/>
        </p:nvSpPr>
        <p:spPr>
          <a:xfrm>
            <a:off x="994410" y="1265158"/>
            <a:ext cx="622935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show extreme values, median and quartiles. You can easily figure out outliers. Show information about the central tendency, symmetry and skew, outliers; misleading about multimodality. </a:t>
            </a:r>
            <a:endParaRPr/>
          </a:p>
        </p:txBody>
      </p:sp>
      <p:pic>
        <p:nvPicPr>
          <p:cNvPr descr="Box Plot.png" id="807" name="Google Shape;807;p44"/>
          <p:cNvPicPr preferRelativeResize="0"/>
          <p:nvPr/>
        </p:nvPicPr>
        <p:blipFill rotWithShape="1">
          <a:blip r:embed="rId3">
            <a:alphaModFix/>
          </a:blip>
          <a:srcRect b="0" l="0" r="0" t="0"/>
          <a:stretch/>
        </p:blipFill>
        <p:spPr>
          <a:xfrm>
            <a:off x="2198370" y="2636520"/>
            <a:ext cx="5400675" cy="191928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4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Quantile-normal plots</a:t>
            </a:r>
            <a:endParaRPr/>
          </a:p>
        </p:txBody>
      </p:sp>
      <p:sp>
        <p:nvSpPr>
          <p:cNvPr id="813" name="Google Shape;813;p45"/>
          <p:cNvSpPr/>
          <p:nvPr/>
        </p:nvSpPr>
        <p:spPr>
          <a:xfrm>
            <a:off x="994410" y="1265158"/>
            <a:ext cx="677799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used to compare the distribution of a dataset against a theoretical normal distribution.</a:t>
            </a:r>
            <a:endParaRPr b="0" i="0" sz="1400" u="none" cap="none" strike="noStrike">
              <a:solidFill>
                <a:schemeClr val="dk1"/>
              </a:solidFill>
              <a:latin typeface="Inter"/>
              <a:ea typeface="Inter"/>
              <a:cs typeface="Inter"/>
              <a:sym typeface="Inter"/>
            </a:endParaRPr>
          </a:p>
        </p:txBody>
      </p:sp>
      <p:pic>
        <p:nvPicPr>
          <p:cNvPr id="814" name="Google Shape;814;p45"/>
          <p:cNvPicPr preferRelativeResize="0"/>
          <p:nvPr/>
        </p:nvPicPr>
        <p:blipFill rotWithShape="1">
          <a:blip r:embed="rId3">
            <a:alphaModFix/>
          </a:blip>
          <a:srcRect b="0" l="0" r="0" t="0"/>
          <a:stretch/>
        </p:blipFill>
        <p:spPr>
          <a:xfrm>
            <a:off x="2651760" y="2427922"/>
            <a:ext cx="3314700" cy="20478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4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3200"/>
              <a:t>Stem-and-Leaf Plots</a:t>
            </a:r>
            <a:endParaRPr/>
          </a:p>
        </p:txBody>
      </p:sp>
      <p:sp>
        <p:nvSpPr>
          <p:cNvPr id="820" name="Google Shape;820;p46"/>
          <p:cNvSpPr/>
          <p:nvPr/>
        </p:nvSpPr>
        <p:spPr>
          <a:xfrm>
            <a:off x="994410" y="1265158"/>
            <a:ext cx="690372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displaying quantitative data while preserving the original data values, making them a useful alternative to histograms.</a:t>
            </a:r>
            <a:endParaRPr b="0" i="0" sz="1400" u="none" cap="none" strike="noStrike">
              <a:solidFill>
                <a:schemeClr val="dk1"/>
              </a:solidFill>
              <a:latin typeface="Inter"/>
              <a:ea typeface="Inter"/>
              <a:cs typeface="Inter"/>
              <a:sym typeface="Inter"/>
            </a:endParaRPr>
          </a:p>
        </p:txBody>
      </p:sp>
      <p:pic>
        <p:nvPicPr>
          <p:cNvPr descr="stem-and-leaf-how-to-construct_ver_1.jpg" id="821" name="Google Shape;821;p46"/>
          <p:cNvPicPr preferRelativeResize="0"/>
          <p:nvPr/>
        </p:nvPicPr>
        <p:blipFill rotWithShape="1">
          <a:blip r:embed="rId3">
            <a:alphaModFix/>
          </a:blip>
          <a:srcRect b="0" l="0" r="0" t="13114"/>
          <a:stretch/>
        </p:blipFill>
        <p:spPr>
          <a:xfrm>
            <a:off x="1857375" y="1928070"/>
            <a:ext cx="4371975" cy="278299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3</a:t>
            </a:r>
            <a:endParaRPr/>
          </a:p>
        </p:txBody>
      </p:sp>
      <p:pic>
        <p:nvPicPr>
          <p:cNvPr id="827" name="Google Shape;827;p47"/>
          <p:cNvPicPr preferRelativeResize="0"/>
          <p:nvPr/>
        </p:nvPicPr>
        <p:blipFill rotWithShape="1">
          <a:blip r:embed="rId3">
            <a:alphaModFix/>
          </a:blip>
          <a:srcRect b="0" l="0" r="5958" t="0"/>
          <a:stretch/>
        </p:blipFill>
        <p:spPr>
          <a:xfrm>
            <a:off x="3040379" y="822960"/>
            <a:ext cx="6103621" cy="4226962"/>
          </a:xfrm>
          <a:prstGeom prst="rect">
            <a:avLst/>
          </a:prstGeom>
          <a:noFill/>
          <a:ln>
            <a:noFill/>
          </a:ln>
        </p:spPr>
      </p:pic>
      <p:sp>
        <p:nvSpPr>
          <p:cNvPr id="828" name="Google Shape;828;p47"/>
          <p:cNvSpPr/>
          <p:nvPr/>
        </p:nvSpPr>
        <p:spPr>
          <a:xfrm>
            <a:off x="445770" y="1642348"/>
            <a:ext cx="2194560"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Given the plots:</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What is the shape of the distribution?</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Any outliers?</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Is the median larger or smaller than the mean?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4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3</a:t>
            </a:r>
            <a:endParaRPr/>
          </a:p>
        </p:txBody>
      </p:sp>
      <p:sp>
        <p:nvSpPr>
          <p:cNvPr id="834" name="Google Shape;834;p48"/>
          <p:cNvSpPr/>
          <p:nvPr/>
        </p:nvSpPr>
        <p:spPr>
          <a:xfrm>
            <a:off x="765810" y="1390888"/>
            <a:ext cx="8092440" cy="310854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chemeClr val="dk1"/>
                </a:solidFill>
                <a:latin typeface="Inter"/>
                <a:ea typeface="Inter"/>
                <a:cs typeface="Inter"/>
                <a:sym typeface="Inter"/>
              </a:rPr>
              <a:t>What is the shape of the distribution?</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histogram appears to be </a:t>
            </a:r>
            <a:r>
              <a:rPr lang="en-US">
                <a:solidFill>
                  <a:schemeClr val="dk1"/>
                </a:solidFill>
                <a:latin typeface="Inter"/>
                <a:ea typeface="Inter"/>
                <a:cs typeface="Inter"/>
                <a:sym typeface="Inter"/>
              </a:rPr>
              <a:t>left</a:t>
            </a:r>
            <a:r>
              <a:rPr b="0" i="0" lang="en-US" sz="1400" u="none" cap="none" strike="noStrike">
                <a:solidFill>
                  <a:schemeClr val="dk1"/>
                </a:solidFill>
                <a:latin typeface="Inter"/>
                <a:ea typeface="Inter"/>
                <a:cs typeface="Inter"/>
                <a:sym typeface="Inter"/>
              </a:rPr>
              <a:t>-skewed (</a:t>
            </a:r>
            <a:r>
              <a:rPr lang="en-US">
                <a:solidFill>
                  <a:schemeClr val="dk1"/>
                </a:solidFill>
                <a:latin typeface="Inter"/>
                <a:ea typeface="Inter"/>
                <a:cs typeface="Inter"/>
                <a:sym typeface="Inter"/>
              </a:rPr>
              <a:t>negatively</a:t>
            </a:r>
            <a:r>
              <a:rPr b="0" i="0" lang="en-US" sz="1400" u="none" cap="none" strike="noStrike">
                <a:solidFill>
                  <a:schemeClr val="dk1"/>
                </a:solidFill>
                <a:latin typeface="Inter"/>
                <a:ea typeface="Inter"/>
                <a:cs typeface="Inter"/>
                <a:sym typeface="Inter"/>
              </a:rPr>
              <a:t> skewed) because the </a:t>
            </a:r>
            <a:r>
              <a:rPr lang="en-US">
                <a:solidFill>
                  <a:schemeClr val="dk1"/>
                </a:solidFill>
                <a:latin typeface="Inter"/>
                <a:ea typeface="Inter"/>
                <a:cs typeface="Inter"/>
                <a:sym typeface="Inter"/>
              </a:rPr>
              <a:t>bins</a:t>
            </a:r>
            <a:r>
              <a:rPr b="0" i="0" lang="en-US" sz="1400" u="none" cap="none" strike="noStrike">
                <a:solidFill>
                  <a:schemeClr val="dk1"/>
                </a:solidFill>
                <a:latin typeface="Inter"/>
                <a:ea typeface="Inter"/>
                <a:cs typeface="Inter"/>
                <a:sym typeface="Inter"/>
              </a:rPr>
              <a:t> extend further towards the left (longer tail)</a:t>
            </a:r>
            <a:r>
              <a:rPr lang="en-US">
                <a:solidFill>
                  <a:schemeClr val="dk1"/>
                </a:solidFill>
                <a:latin typeface="Inter"/>
                <a:ea typeface="Inter"/>
                <a:cs typeface="Inter"/>
                <a:sym typeface="Inter"/>
              </a:rPr>
              <a:t>. The mean is therefore less than the median.</a:t>
            </a:r>
            <a:endParaRPr/>
          </a:p>
          <a:p>
            <a:pPr indent="0" lvl="1"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chemeClr val="dk1"/>
                </a:solidFill>
                <a:latin typeface="Inter"/>
                <a:ea typeface="Inter"/>
                <a:cs typeface="Inter"/>
                <a:sym typeface="Inter"/>
              </a:rPr>
              <a:t>Any outliers?</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boxplot suggests there </a:t>
            </a:r>
            <a:r>
              <a:rPr lang="en-US">
                <a:solidFill>
                  <a:schemeClr val="dk1"/>
                </a:solidFill>
                <a:latin typeface="Inter"/>
                <a:ea typeface="Inter"/>
                <a:cs typeface="Inter"/>
                <a:sym typeface="Inter"/>
              </a:rPr>
              <a:t>are</a:t>
            </a:r>
            <a:r>
              <a:rPr b="0" i="0" lang="en-US" sz="1400" u="none" cap="none" strike="noStrike">
                <a:solidFill>
                  <a:schemeClr val="dk1"/>
                </a:solidFill>
                <a:latin typeface="Inter"/>
                <a:ea typeface="Inter"/>
                <a:cs typeface="Inter"/>
                <a:sym typeface="Inter"/>
              </a:rPr>
              <a:t> </a:t>
            </a:r>
            <a:r>
              <a:rPr lang="en-US">
                <a:solidFill>
                  <a:schemeClr val="dk1"/>
                </a:solidFill>
                <a:latin typeface="Inter"/>
                <a:ea typeface="Inter"/>
                <a:cs typeface="Inter"/>
                <a:sym typeface="Inter"/>
              </a:rPr>
              <a:t>no </a:t>
            </a:r>
            <a:r>
              <a:rPr b="0" i="0" lang="en-US" sz="1400" u="none" cap="none" strike="noStrike">
                <a:solidFill>
                  <a:schemeClr val="dk1"/>
                </a:solidFill>
                <a:latin typeface="Inter"/>
                <a:ea typeface="Inter"/>
                <a:cs typeface="Inter"/>
                <a:sym typeface="Inter"/>
              </a:rPr>
              <a:t>outliers. If any individual points appear beyond the whiskers, they would be considered outliers. Since we don't see specific outlier markers in the image, it may indicate either no extreme outliers or mild ones close to the whiskers.</a:t>
            </a:r>
            <a:endParaRPr/>
          </a:p>
          <a:p>
            <a:pPr indent="0" lvl="1"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chemeClr val="dk1"/>
                </a:solidFill>
                <a:latin typeface="Inter"/>
                <a:ea typeface="Inter"/>
                <a:cs typeface="Inter"/>
                <a:sym typeface="Inter"/>
              </a:rPr>
              <a:t>Is the median larger or smaller than the mean?</a:t>
            </a:r>
            <a:endParaRPr/>
          </a:p>
          <a:p>
            <a:pPr indent="0" lvl="1"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In a </a:t>
            </a:r>
            <a:r>
              <a:rPr lang="en-US">
                <a:solidFill>
                  <a:schemeClr val="dk1"/>
                </a:solidFill>
                <a:latin typeface="Inter"/>
                <a:ea typeface="Inter"/>
                <a:cs typeface="Inter"/>
                <a:sym typeface="Inter"/>
              </a:rPr>
              <a:t>left</a:t>
            </a:r>
            <a:r>
              <a:rPr b="0" i="0" lang="en-US" sz="1400" u="none" cap="none" strike="noStrike">
                <a:solidFill>
                  <a:schemeClr val="dk1"/>
                </a:solidFill>
                <a:latin typeface="Inter"/>
                <a:ea typeface="Inter"/>
                <a:cs typeface="Inter"/>
                <a:sym typeface="Inter"/>
              </a:rPr>
              <a:t>-skewed distribution, the mean is typically </a:t>
            </a:r>
            <a:r>
              <a:rPr lang="en-US">
                <a:solidFill>
                  <a:schemeClr val="dk1"/>
                </a:solidFill>
                <a:latin typeface="Inter"/>
                <a:ea typeface="Inter"/>
                <a:cs typeface="Inter"/>
                <a:sym typeface="Inter"/>
              </a:rPr>
              <a:t>smaller</a:t>
            </a:r>
            <a:r>
              <a:rPr b="0" i="0" lang="en-US" sz="1400" u="none" cap="none" strike="noStrike">
                <a:solidFill>
                  <a:schemeClr val="dk1"/>
                </a:solidFill>
                <a:latin typeface="Inter"/>
                <a:ea typeface="Inter"/>
                <a:cs typeface="Inter"/>
                <a:sym typeface="Inter"/>
              </a:rPr>
              <a:t> than the median because extreme </a:t>
            </a:r>
            <a:r>
              <a:rPr lang="en-US">
                <a:solidFill>
                  <a:schemeClr val="dk1"/>
                </a:solidFill>
                <a:latin typeface="Inter"/>
                <a:ea typeface="Inter"/>
                <a:cs typeface="Inter"/>
                <a:sym typeface="Inter"/>
              </a:rPr>
              <a:t>low</a:t>
            </a:r>
            <a:r>
              <a:rPr b="0" i="0" lang="en-US" sz="1400" u="none" cap="none" strike="noStrike">
                <a:solidFill>
                  <a:schemeClr val="dk1"/>
                </a:solidFill>
                <a:latin typeface="Inter"/>
                <a:ea typeface="Inter"/>
                <a:cs typeface="Inter"/>
                <a:sym typeface="Inter"/>
              </a:rPr>
              <a:t> values pull the mean </a:t>
            </a:r>
            <a:r>
              <a:rPr lang="en-US">
                <a:solidFill>
                  <a:schemeClr val="dk1"/>
                </a:solidFill>
                <a:latin typeface="Inter"/>
                <a:ea typeface="Inter"/>
                <a:cs typeface="Inter"/>
                <a:sym typeface="Inter"/>
              </a:rPr>
              <a:t>downwards</a:t>
            </a:r>
            <a:r>
              <a:rPr b="0" i="0" lang="en-US" sz="1400" u="none" cap="none" strike="noStrike">
                <a:solidFill>
                  <a:schemeClr val="dk1"/>
                </a:solidFill>
                <a:latin typeface="Inter"/>
                <a:ea typeface="Inter"/>
                <a:cs typeface="Inter"/>
                <a:sym typeface="Inter"/>
              </a:rPr>
              <a:t>. Given the skewness in the histogram and boxplot, the </a:t>
            </a:r>
            <a:r>
              <a:rPr lang="en-US">
                <a:solidFill>
                  <a:schemeClr val="dk1"/>
                </a:solidFill>
                <a:latin typeface="Inter"/>
                <a:ea typeface="Inter"/>
                <a:cs typeface="Inter"/>
                <a:sym typeface="Inter"/>
              </a:rPr>
              <a:t>median</a:t>
            </a:r>
            <a:r>
              <a:rPr b="0" i="0" lang="en-US" sz="1400" u="none" cap="none" strike="noStrike">
                <a:solidFill>
                  <a:schemeClr val="dk1"/>
                </a:solidFill>
                <a:latin typeface="Inter"/>
                <a:ea typeface="Inter"/>
                <a:cs typeface="Inter"/>
                <a:sym typeface="Inter"/>
              </a:rPr>
              <a:t> is likely </a:t>
            </a:r>
            <a:r>
              <a:rPr lang="en-US">
                <a:solidFill>
                  <a:schemeClr val="dk1"/>
                </a:solidFill>
                <a:latin typeface="Inter"/>
                <a:ea typeface="Inter"/>
                <a:cs typeface="Inter"/>
                <a:sym typeface="Inter"/>
              </a:rPr>
              <a:t>larger</a:t>
            </a:r>
            <a:r>
              <a:rPr b="0" i="0" lang="en-US" sz="1400" u="none" cap="none" strike="noStrike">
                <a:solidFill>
                  <a:schemeClr val="dk1"/>
                </a:solidFill>
                <a:latin typeface="Inter"/>
                <a:ea typeface="Inter"/>
                <a:cs typeface="Inter"/>
                <a:sym typeface="Inter"/>
              </a:rPr>
              <a:t> than the </a:t>
            </a:r>
            <a:r>
              <a:rPr lang="en-US">
                <a:solidFill>
                  <a:schemeClr val="dk1"/>
                </a:solidFill>
                <a:latin typeface="Inter"/>
                <a:ea typeface="Inter"/>
                <a:cs typeface="Inter"/>
                <a:sym typeface="Inter"/>
              </a:rPr>
              <a:t>mean</a:t>
            </a:r>
            <a:r>
              <a:rPr b="0" i="0" lang="en-US" sz="1400" u="none" cap="none" strike="noStrike">
                <a:solidFill>
                  <a:schemeClr val="dk1"/>
                </a:solidFill>
                <a:latin typeface="Inter"/>
                <a:ea typeface="Inter"/>
                <a:cs typeface="Inter"/>
                <a:sym typeface="Inter"/>
              </a:rPr>
              <a: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49"/>
          <p:cNvSpPr txBox="1"/>
          <p:nvPr>
            <p:ph type="title"/>
          </p:nvPr>
        </p:nvSpPr>
        <p:spPr>
          <a:xfrm>
            <a:off x="3151900" y="1636350"/>
            <a:ext cx="4150500" cy="1302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Multivariate nongraphical EDA</a:t>
            </a:r>
            <a:endParaRPr/>
          </a:p>
        </p:txBody>
      </p:sp>
      <p:sp>
        <p:nvSpPr>
          <p:cNvPr id="840" name="Google Shape;840;p49"/>
          <p:cNvSpPr txBox="1"/>
          <p:nvPr>
            <p:ph idx="2" type="title"/>
          </p:nvPr>
        </p:nvSpPr>
        <p:spPr>
          <a:xfrm>
            <a:off x="1475300" y="1690000"/>
            <a:ext cx="1294500" cy="908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US"/>
              <a:t>03.</a:t>
            </a:r>
            <a:endParaRPr/>
          </a:p>
        </p:txBody>
      </p:sp>
      <p:grpSp>
        <p:nvGrpSpPr>
          <p:cNvPr id="841" name="Google Shape;841;p49"/>
          <p:cNvGrpSpPr/>
          <p:nvPr/>
        </p:nvGrpSpPr>
        <p:grpSpPr>
          <a:xfrm>
            <a:off x="7783346" y="490666"/>
            <a:ext cx="901968" cy="901968"/>
            <a:chOff x="1350404" y="-3124999"/>
            <a:chExt cx="1570279" cy="1570279"/>
          </a:xfrm>
        </p:grpSpPr>
        <p:sp>
          <p:nvSpPr>
            <p:cNvPr id="842" name="Google Shape;842;p49"/>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3" name="Google Shape;843;p49"/>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4" name="Google Shape;844;p49"/>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5" name="Google Shape;845;p49"/>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46" name="Google Shape;846;p49"/>
          <p:cNvGrpSpPr/>
          <p:nvPr/>
        </p:nvGrpSpPr>
        <p:grpSpPr>
          <a:xfrm>
            <a:off x="713029" y="3447254"/>
            <a:ext cx="1266652" cy="1056012"/>
            <a:chOff x="5378191" y="1701500"/>
            <a:chExt cx="611171" cy="509535"/>
          </a:xfrm>
        </p:grpSpPr>
        <p:sp>
          <p:nvSpPr>
            <p:cNvPr id="847" name="Google Shape;847;p49"/>
            <p:cNvSpPr/>
            <p:nvPr/>
          </p:nvSpPr>
          <p:spPr>
            <a:xfrm>
              <a:off x="5378191" y="1701500"/>
              <a:ext cx="611171" cy="509535"/>
            </a:xfrm>
            <a:custGeom>
              <a:rect b="b" l="l" r="r" t="t"/>
              <a:pathLst>
                <a:path extrusionOk="0" h="1056032" w="1266676">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8" name="Google Shape;848;p49"/>
            <p:cNvSpPr/>
            <p:nvPr/>
          </p:nvSpPr>
          <p:spPr>
            <a:xfrm>
              <a:off x="5497928" y="1776815"/>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9" name="Google Shape;849;p49"/>
            <p:cNvSpPr/>
            <p:nvPr/>
          </p:nvSpPr>
          <p:spPr>
            <a:xfrm>
              <a:off x="5608451" y="1776815"/>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0" name="Google Shape;850;p49"/>
            <p:cNvSpPr/>
            <p:nvPr/>
          </p:nvSpPr>
          <p:spPr>
            <a:xfrm>
              <a:off x="5719011" y="1776815"/>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1" name="Google Shape;851;p49"/>
            <p:cNvSpPr/>
            <p:nvPr/>
          </p:nvSpPr>
          <p:spPr>
            <a:xfrm>
              <a:off x="5829571" y="1776815"/>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2" name="Google Shape;852;p49"/>
            <p:cNvSpPr/>
            <p:nvPr/>
          </p:nvSpPr>
          <p:spPr>
            <a:xfrm>
              <a:off x="5497928" y="1882549"/>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3" name="Google Shape;853;p49"/>
            <p:cNvSpPr/>
            <p:nvPr/>
          </p:nvSpPr>
          <p:spPr>
            <a:xfrm>
              <a:off x="5608451" y="1882549"/>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4" name="Google Shape;854;p49"/>
            <p:cNvSpPr/>
            <p:nvPr/>
          </p:nvSpPr>
          <p:spPr>
            <a:xfrm>
              <a:off x="5719011" y="1882549"/>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5" name="Google Shape;855;p49"/>
            <p:cNvSpPr/>
            <p:nvPr/>
          </p:nvSpPr>
          <p:spPr>
            <a:xfrm>
              <a:off x="5829571" y="1882549"/>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6" name="Google Shape;856;p49"/>
            <p:cNvSpPr/>
            <p:nvPr/>
          </p:nvSpPr>
          <p:spPr>
            <a:xfrm>
              <a:off x="5497928" y="1988320"/>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7" name="Google Shape;857;p49"/>
            <p:cNvSpPr/>
            <p:nvPr/>
          </p:nvSpPr>
          <p:spPr>
            <a:xfrm>
              <a:off x="5608451" y="1988320"/>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8" name="Google Shape;858;p49"/>
            <p:cNvSpPr/>
            <p:nvPr/>
          </p:nvSpPr>
          <p:spPr>
            <a:xfrm>
              <a:off x="5719011" y="198832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9" name="Google Shape;859;p49"/>
            <p:cNvSpPr/>
            <p:nvPr/>
          </p:nvSpPr>
          <p:spPr>
            <a:xfrm>
              <a:off x="5829571" y="198832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0" name="Google Shape;860;p49"/>
            <p:cNvSpPr/>
            <p:nvPr/>
          </p:nvSpPr>
          <p:spPr>
            <a:xfrm>
              <a:off x="5497928" y="2094090"/>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1" name="Google Shape;861;p49"/>
            <p:cNvSpPr/>
            <p:nvPr/>
          </p:nvSpPr>
          <p:spPr>
            <a:xfrm>
              <a:off x="5608451" y="2094090"/>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2" name="Google Shape;862;p49"/>
            <p:cNvSpPr/>
            <p:nvPr/>
          </p:nvSpPr>
          <p:spPr>
            <a:xfrm>
              <a:off x="5719011" y="209409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3" name="Google Shape;863;p49"/>
            <p:cNvSpPr/>
            <p:nvPr/>
          </p:nvSpPr>
          <p:spPr>
            <a:xfrm>
              <a:off x="5829571" y="209409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864" name="Google Shape;864;p49"/>
          <p:cNvSpPr/>
          <p:nvPr/>
        </p:nvSpPr>
        <p:spPr>
          <a:xfrm>
            <a:off x="2060027" y="3287602"/>
            <a:ext cx="547063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show the relationship between</a:t>
            </a:r>
            <a:endParaRPr/>
          </a:p>
          <a:p>
            <a:pPr indent="0" lvl="0" marL="0" marR="0" rtl="0" algn="ctr">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two or more variables.</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3200"/>
              <a:t>Cross-Tabulation</a:t>
            </a:r>
            <a:endParaRPr/>
          </a:p>
        </p:txBody>
      </p:sp>
      <p:pic>
        <p:nvPicPr>
          <p:cNvPr descr="Crosstab Analysis: Explanation, Examples, Guide, Tools // OpinionX — Free  Stack Ranking Surveys" id="870" name="Google Shape;870;p50"/>
          <p:cNvPicPr preferRelativeResize="0"/>
          <p:nvPr/>
        </p:nvPicPr>
        <p:blipFill rotWithShape="1">
          <a:blip r:embed="rId3">
            <a:alphaModFix/>
          </a:blip>
          <a:srcRect b="0" l="0" r="0" t="0"/>
          <a:stretch/>
        </p:blipFill>
        <p:spPr>
          <a:xfrm>
            <a:off x="4900290" y="1954530"/>
            <a:ext cx="3611956" cy="2031364"/>
          </a:xfrm>
          <a:prstGeom prst="rect">
            <a:avLst/>
          </a:prstGeom>
          <a:noFill/>
          <a:ln>
            <a:noFill/>
          </a:ln>
        </p:spPr>
      </p:pic>
      <p:sp>
        <p:nvSpPr>
          <p:cNvPr id="871" name="Google Shape;871;p50"/>
          <p:cNvSpPr/>
          <p:nvPr/>
        </p:nvSpPr>
        <p:spPr>
          <a:xfrm>
            <a:off x="811530" y="1368028"/>
            <a:ext cx="4572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statistical technique used to analyze the relationships between two categorical variables by organizing the data into a matrix format. </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Covariance</a:t>
            </a:r>
            <a:endParaRPr/>
          </a:p>
        </p:txBody>
      </p:sp>
      <p:sp>
        <p:nvSpPr>
          <p:cNvPr id="877" name="Google Shape;877;p51"/>
          <p:cNvSpPr/>
          <p:nvPr/>
        </p:nvSpPr>
        <p:spPr>
          <a:xfrm>
            <a:off x="731520" y="1521470"/>
            <a:ext cx="6537960" cy="1384995"/>
          </a:xfrm>
          <a:prstGeom prst="rect">
            <a:avLst/>
          </a:prstGeom>
          <a:noFill/>
          <a:ln>
            <a:noFill/>
          </a:ln>
        </p:spPr>
        <p:txBody>
          <a:bodyPr anchorCtr="0" anchor="t" bIns="45700" lIns="91425" spcFirstLastPara="1" rIns="91425" wrap="square" tIns="45700">
            <a:spAutoFit/>
          </a:bodyPr>
          <a:lstStyle/>
          <a:p>
            <a:pPr indent="0" lvl="0" marL="123825"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measures the degree to which two variables change together.</a:t>
            </a:r>
            <a:endParaRPr/>
          </a:p>
          <a:p>
            <a:pPr indent="-247650" lvl="0" marL="371475" marR="0" rtl="0" algn="l">
              <a:lnSpc>
                <a:spcPct val="100000"/>
              </a:lnSpc>
              <a:spcBef>
                <a:spcPts val="0"/>
              </a:spcBef>
              <a:spcAft>
                <a:spcPts val="0"/>
              </a:spcAft>
              <a:buClr>
                <a:srgbClr val="000000"/>
              </a:buClr>
              <a:buSzPts val="1200"/>
              <a:buFont typeface="Arial"/>
              <a:buChar char="•"/>
            </a:pPr>
            <a:r>
              <a:rPr b="0" i="0" lang="en-US" sz="1400" u="none" cap="none" strike="noStrike">
                <a:solidFill>
                  <a:schemeClr val="dk1"/>
                </a:solidFill>
                <a:latin typeface="Inter"/>
                <a:ea typeface="Inter"/>
                <a:cs typeface="Inter"/>
                <a:sym typeface="Inter"/>
              </a:rPr>
              <a:t>Positive covariance indicates that as one variable increases, the other tends to increase.</a:t>
            </a:r>
            <a:endParaRPr/>
          </a:p>
          <a:p>
            <a:pPr indent="-247650" lvl="0" marL="371475" marR="0" rtl="0" algn="l">
              <a:lnSpc>
                <a:spcPct val="100000"/>
              </a:lnSpc>
              <a:spcBef>
                <a:spcPts val="0"/>
              </a:spcBef>
              <a:spcAft>
                <a:spcPts val="0"/>
              </a:spcAft>
              <a:buClr>
                <a:srgbClr val="000000"/>
              </a:buClr>
              <a:buSzPts val="1200"/>
              <a:buFont typeface="Arial"/>
              <a:buChar char="•"/>
            </a:pPr>
            <a:r>
              <a:rPr b="0" i="0" lang="en-US" sz="1400" u="none" cap="none" strike="noStrike">
                <a:solidFill>
                  <a:schemeClr val="dk1"/>
                </a:solidFill>
                <a:latin typeface="Inter"/>
                <a:ea typeface="Inter"/>
                <a:cs typeface="Inter"/>
                <a:sym typeface="Inter"/>
              </a:rPr>
              <a:t>Negative covariance indicates that as one variable increases, the other tends to decrease.</a:t>
            </a:r>
            <a:endParaRPr/>
          </a:p>
          <a:p>
            <a:pPr indent="0" lvl="0" marL="123825"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878" name="Google Shape;878;p51"/>
          <p:cNvPicPr preferRelativeResize="0"/>
          <p:nvPr/>
        </p:nvPicPr>
        <p:blipFill rotWithShape="1">
          <a:blip r:embed="rId3">
            <a:alphaModFix/>
          </a:blip>
          <a:srcRect b="0" l="0" r="0" t="0"/>
          <a:stretch/>
        </p:blipFill>
        <p:spPr>
          <a:xfrm>
            <a:off x="2826386" y="3023235"/>
            <a:ext cx="3473450" cy="561975"/>
          </a:xfrm>
          <a:prstGeom prst="rect">
            <a:avLst/>
          </a:prstGeom>
          <a:noFill/>
          <a:ln>
            <a:noFill/>
          </a:ln>
        </p:spPr>
      </p:pic>
      <p:sp>
        <p:nvSpPr>
          <p:cNvPr id="879" name="Google Shape;879;p51"/>
          <p:cNvSpPr txBox="1"/>
          <p:nvPr/>
        </p:nvSpPr>
        <p:spPr>
          <a:xfrm>
            <a:off x="1293495" y="3678555"/>
            <a:ext cx="3371850" cy="1400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Where:</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Xi – the values of the X-variable</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Yj – the values of the Y-variable</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X̄ – the mean (average) of the X-variable</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Ȳ – the mean (average) of the Y-variable</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n – the number of data points</a:t>
            </a:r>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5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Correlation</a:t>
            </a:r>
            <a:endParaRPr/>
          </a:p>
        </p:txBody>
      </p:sp>
      <p:sp>
        <p:nvSpPr>
          <p:cNvPr id="885" name="Google Shape;885;p52"/>
          <p:cNvSpPr/>
          <p:nvPr/>
        </p:nvSpPr>
        <p:spPr>
          <a:xfrm>
            <a:off x="1257300" y="1270010"/>
            <a:ext cx="6172200" cy="1600438"/>
          </a:xfrm>
          <a:prstGeom prst="rect">
            <a:avLst/>
          </a:prstGeom>
          <a:noFill/>
          <a:ln>
            <a:noFill/>
          </a:ln>
        </p:spPr>
        <p:txBody>
          <a:bodyPr anchorCtr="0" anchor="t" bIns="45700" lIns="91425" spcFirstLastPara="1" rIns="91425" wrap="square" tIns="45700">
            <a:spAutoFit/>
          </a:bodyPr>
          <a:lstStyle/>
          <a:p>
            <a:pPr indent="0" lvl="0" marL="123825"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quantifies the strength and direction of the relationship between two variables</a:t>
            </a:r>
            <a:endParaRPr b="0" i="0" sz="1400" u="none" cap="none" strike="noStrike">
              <a:solidFill>
                <a:schemeClr val="dk1"/>
              </a:solidFill>
              <a:latin typeface="Inter"/>
              <a:ea typeface="Inter"/>
              <a:cs typeface="Inter"/>
              <a:sym typeface="Inter"/>
            </a:endParaRPr>
          </a:p>
          <a:p>
            <a:pPr indent="-123825" lvl="0" marL="123825" marR="0" rtl="0" algn="l">
              <a:lnSpc>
                <a:spcPct val="100000"/>
              </a:lnSpc>
              <a:spcBef>
                <a:spcPts val="0"/>
              </a:spcBef>
              <a:spcAft>
                <a:spcPts val="0"/>
              </a:spcAft>
              <a:buClr>
                <a:srgbClr val="000000"/>
              </a:buClr>
              <a:buSzPts val="1200"/>
              <a:buFont typeface="Arial"/>
              <a:buChar char="•"/>
            </a:pPr>
            <a:r>
              <a:rPr b="0" i="0" lang="en-US" sz="1400" u="none" cap="none" strike="noStrike">
                <a:solidFill>
                  <a:schemeClr val="dk1"/>
                </a:solidFill>
                <a:latin typeface="Inter"/>
                <a:ea typeface="Inter"/>
                <a:cs typeface="Inter"/>
                <a:sym typeface="Inter"/>
              </a:rPr>
              <a:t>Correlation coefficients range from -1 (perfect negative correlation) to +1 (perfect positive correlation).</a:t>
            </a:r>
            <a:endParaRPr/>
          </a:p>
          <a:p>
            <a:pPr indent="-123825" lvl="0" marL="123825" marR="0" rtl="0" algn="l">
              <a:lnSpc>
                <a:spcPct val="100000"/>
              </a:lnSpc>
              <a:spcBef>
                <a:spcPts val="0"/>
              </a:spcBef>
              <a:spcAft>
                <a:spcPts val="0"/>
              </a:spcAft>
              <a:buClr>
                <a:srgbClr val="000000"/>
              </a:buClr>
              <a:buSzPts val="1200"/>
              <a:buFont typeface="Arial"/>
              <a:buChar char="•"/>
            </a:pPr>
            <a:r>
              <a:rPr b="0" i="0" lang="en-US" sz="1400" u="none" cap="none" strike="noStrike">
                <a:solidFill>
                  <a:schemeClr val="dk1"/>
                </a:solidFill>
                <a:latin typeface="Inter"/>
                <a:ea typeface="Inter"/>
                <a:cs typeface="Inter"/>
                <a:sym typeface="Inter"/>
              </a:rPr>
              <a:t>A correlation of 0 indicates no linear relationship between the variables.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886" name="Google Shape;886;p52"/>
          <p:cNvPicPr preferRelativeResize="0"/>
          <p:nvPr/>
        </p:nvPicPr>
        <p:blipFill rotWithShape="1">
          <a:blip r:embed="rId3">
            <a:alphaModFix/>
          </a:blip>
          <a:srcRect b="0" l="0" r="0" t="0"/>
          <a:stretch/>
        </p:blipFill>
        <p:spPr>
          <a:xfrm>
            <a:off x="4446271" y="3044190"/>
            <a:ext cx="3324224" cy="604538"/>
          </a:xfrm>
          <a:prstGeom prst="rect">
            <a:avLst/>
          </a:prstGeom>
          <a:noFill/>
          <a:ln>
            <a:noFill/>
          </a:ln>
        </p:spPr>
      </p:pic>
      <p:sp>
        <p:nvSpPr>
          <p:cNvPr id="887" name="Google Shape;887;p52"/>
          <p:cNvSpPr txBox="1"/>
          <p:nvPr/>
        </p:nvSpPr>
        <p:spPr>
          <a:xfrm>
            <a:off x="1541144" y="3766185"/>
            <a:ext cx="3800476" cy="1554272"/>
          </a:xfrm>
          <a:prstGeom prst="rect">
            <a:avLst/>
          </a:prstGeom>
          <a:noFill/>
          <a:ln>
            <a:noFill/>
          </a:ln>
        </p:spPr>
        <p:txBody>
          <a:bodyPr anchorCtr="0" anchor="t" bIns="45700" lIns="91425" spcFirstLastPara="1" rIns="91425" wrap="square" tIns="45700">
            <a:spAutoFit/>
          </a:bodyPr>
          <a:lstStyle/>
          <a:p>
            <a:pPr indent="0" lvl="0" marL="123825"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Where:</a:t>
            </a:r>
            <a:endParaRPr/>
          </a:p>
          <a:p>
            <a:pPr indent="0" lvl="0" marL="123825"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ρ(X,Y) – the correlation between the variables X and Y</a:t>
            </a:r>
            <a:endParaRPr/>
          </a:p>
          <a:p>
            <a:pPr indent="0" lvl="0" marL="123825"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Cov(X,Y) – the covariance between the variables X and Y</a:t>
            </a:r>
            <a:endParaRPr/>
          </a:p>
          <a:p>
            <a:pPr indent="0" lvl="0" marL="123825"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σX – the standard deviation of the X-variable</a:t>
            </a:r>
            <a:endParaRPr/>
          </a:p>
          <a:p>
            <a:pPr indent="0" lvl="0" marL="123825" marR="0" rtl="0" algn="l">
              <a:lnSpc>
                <a:spcPct val="100000"/>
              </a:lnSpc>
              <a:spcBef>
                <a:spcPts val="0"/>
              </a:spcBef>
              <a:spcAft>
                <a:spcPts val="0"/>
              </a:spcAft>
              <a:buNone/>
            </a:pPr>
            <a:r>
              <a:rPr b="0" i="0" lang="en-US" sz="1200" u="none" cap="none" strike="noStrike">
                <a:solidFill>
                  <a:schemeClr val="dk1"/>
                </a:solidFill>
                <a:latin typeface="Inter"/>
                <a:ea typeface="Inter"/>
                <a:cs typeface="Inter"/>
                <a:sym typeface="Inter"/>
              </a:rPr>
              <a:t>σY – the standard deviation of the Y-variable</a:t>
            </a:r>
            <a:endParaRPr/>
          </a:p>
          <a:p>
            <a:pPr indent="0" lvl="0" marL="0" marR="0" rtl="0" algn="l">
              <a:lnSpc>
                <a:spcPct val="100000"/>
              </a:lnSpc>
              <a:spcBef>
                <a:spcPts val="0"/>
              </a:spcBef>
              <a:spcAft>
                <a:spcPts val="0"/>
              </a:spcAft>
              <a:buNone/>
            </a:pPr>
            <a:r>
              <a:t/>
            </a:r>
            <a:endParaRPr b="0" i="0" sz="1100" u="none" cap="none" strike="noStrike">
              <a:solidFill>
                <a:srgbClr val="1214FE"/>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5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893" name="Google Shape;893;p53"/>
          <p:cNvSpPr/>
          <p:nvPr/>
        </p:nvSpPr>
        <p:spPr>
          <a:xfrm>
            <a:off x="1245870" y="1237447"/>
            <a:ext cx="6846570" cy="738664"/>
          </a:xfrm>
          <a:prstGeom prst="rect">
            <a:avLst/>
          </a:prstGeom>
          <a:noFill/>
          <a:ln>
            <a:noFill/>
          </a:ln>
        </p:spPr>
        <p:txBody>
          <a:bodyPr anchorCtr="0" anchor="t" bIns="45700" lIns="91425" spcFirstLastPara="1" rIns="91425" wrap="square" tIns="45700">
            <a:spAutoFit/>
          </a:bodyPr>
          <a:lstStyle/>
          <a:p>
            <a:pPr indent="0" lvl="0" marL="123825"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following table represents data collected from </a:t>
            </a:r>
            <a:r>
              <a:rPr b="1" i="0" lang="en-US" sz="1400" u="none" cap="none" strike="noStrike">
                <a:solidFill>
                  <a:schemeClr val="dk1"/>
                </a:solidFill>
                <a:latin typeface="Inter"/>
                <a:ea typeface="Inter"/>
                <a:cs typeface="Inter"/>
                <a:sym typeface="Inter"/>
              </a:rPr>
              <a:t>six individuals </a:t>
            </a:r>
            <a:r>
              <a:rPr b="0" i="0" lang="en-US" sz="1400" u="none" cap="none" strike="noStrike">
                <a:solidFill>
                  <a:schemeClr val="dk1"/>
                </a:solidFill>
                <a:latin typeface="Inter"/>
                <a:ea typeface="Inter"/>
                <a:cs typeface="Inter"/>
                <a:sym typeface="Inter"/>
              </a:rPr>
              <a:t>on their daily </a:t>
            </a:r>
            <a:r>
              <a:rPr b="1" i="0" lang="en-US" sz="1400" u="none" cap="none" strike="noStrike">
                <a:solidFill>
                  <a:schemeClr val="dk1"/>
                </a:solidFill>
                <a:latin typeface="Inter"/>
                <a:ea typeface="Inter"/>
                <a:cs typeface="Inter"/>
                <a:sym typeface="Inter"/>
              </a:rPr>
              <a:t>water intake</a:t>
            </a:r>
            <a:r>
              <a:rPr b="0" i="0" lang="en-US" sz="1400" u="none" cap="none" strike="noStrike">
                <a:solidFill>
                  <a:schemeClr val="dk1"/>
                </a:solidFill>
                <a:latin typeface="Inter"/>
                <a:ea typeface="Inter"/>
                <a:cs typeface="Inter"/>
                <a:sym typeface="Inter"/>
              </a:rPr>
              <a:t> (liters), </a:t>
            </a:r>
            <a:r>
              <a:rPr b="1" i="0" lang="en-US" sz="1400" u="none" cap="none" strike="noStrike">
                <a:solidFill>
                  <a:schemeClr val="dk1"/>
                </a:solidFill>
                <a:latin typeface="Inter"/>
                <a:ea typeface="Inter"/>
                <a:cs typeface="Inter"/>
                <a:sym typeface="Inter"/>
              </a:rPr>
              <a:t>sleep duration </a:t>
            </a:r>
            <a:r>
              <a:rPr b="0" i="0" lang="en-US" sz="1400" u="none" cap="none" strike="noStrike">
                <a:solidFill>
                  <a:schemeClr val="dk1"/>
                </a:solidFill>
                <a:latin typeface="Inter"/>
                <a:ea typeface="Inter"/>
                <a:cs typeface="Inter"/>
                <a:sym typeface="Inter"/>
              </a:rPr>
              <a:t>(hours), </a:t>
            </a:r>
            <a:r>
              <a:rPr b="1" i="0" lang="en-US" sz="1400" u="none" cap="none" strike="noStrike">
                <a:solidFill>
                  <a:schemeClr val="dk1"/>
                </a:solidFill>
                <a:latin typeface="Inter"/>
                <a:ea typeface="Inter"/>
                <a:cs typeface="Inter"/>
                <a:sym typeface="Inter"/>
              </a:rPr>
              <a:t>physical activity </a:t>
            </a:r>
            <a:r>
              <a:rPr b="0" i="0" lang="en-US" sz="1400" u="none" cap="none" strike="noStrike">
                <a:solidFill>
                  <a:schemeClr val="dk1"/>
                </a:solidFill>
                <a:latin typeface="Inter"/>
                <a:ea typeface="Inter"/>
                <a:cs typeface="Inter"/>
                <a:sym typeface="Inter"/>
              </a:rPr>
              <a:t>(minutes per day), and </a:t>
            </a:r>
            <a:r>
              <a:rPr b="1" i="0" lang="en-US" sz="1400" u="none" cap="none" strike="noStrike">
                <a:solidFill>
                  <a:schemeClr val="dk1"/>
                </a:solidFill>
                <a:latin typeface="Inter"/>
                <a:ea typeface="Inter"/>
                <a:cs typeface="Inter"/>
                <a:sym typeface="Inter"/>
              </a:rPr>
              <a:t>BMI</a:t>
            </a:r>
            <a:r>
              <a:rPr b="0" i="0" lang="en-US" sz="1400" u="none" cap="none" strike="noStrike">
                <a:solidFill>
                  <a:schemeClr val="dk1"/>
                </a:solidFill>
                <a:latin typeface="Inter"/>
                <a:ea typeface="Inter"/>
                <a:cs typeface="Inter"/>
                <a:sym typeface="Inter"/>
              </a:rPr>
              <a:t> (Body Mass Index).</a:t>
            </a:r>
            <a:endParaRPr/>
          </a:p>
        </p:txBody>
      </p:sp>
      <p:pic>
        <p:nvPicPr>
          <p:cNvPr id="894" name="Google Shape;894;p53"/>
          <p:cNvPicPr preferRelativeResize="0"/>
          <p:nvPr/>
        </p:nvPicPr>
        <p:blipFill rotWithShape="1">
          <a:blip r:embed="rId3">
            <a:alphaModFix/>
          </a:blip>
          <a:srcRect b="0" l="0" r="0" t="0"/>
          <a:stretch/>
        </p:blipFill>
        <p:spPr>
          <a:xfrm>
            <a:off x="1167765" y="1958340"/>
            <a:ext cx="7105650" cy="2324100"/>
          </a:xfrm>
          <a:prstGeom prst="rect">
            <a:avLst/>
          </a:prstGeom>
          <a:noFill/>
          <a:ln>
            <a:noFill/>
          </a:ln>
        </p:spPr>
      </p:pic>
      <p:sp>
        <p:nvSpPr>
          <p:cNvPr id="895" name="Google Shape;895;p53"/>
          <p:cNvSpPr/>
          <p:nvPr/>
        </p:nvSpPr>
        <p:spPr>
          <a:xfrm>
            <a:off x="1728223" y="4349532"/>
            <a:ext cx="5170005" cy="52322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a:solidFill>
                  <a:schemeClr val="dk1"/>
                </a:solidFill>
                <a:latin typeface="Inter"/>
                <a:ea typeface="Inter"/>
                <a:cs typeface="Inter"/>
                <a:sym typeface="Inter"/>
              </a:rPr>
              <a:t>1. Compute the Covariance between Water Intake and BMI.</a:t>
            </a:r>
            <a:endParaRPr>
              <a:solidFill>
                <a:schemeClr val="dk1"/>
              </a:solidFill>
              <a:latin typeface="Inter"/>
              <a:ea typeface="Inter"/>
              <a:cs typeface="Inter"/>
              <a:sym typeface="Inter"/>
            </a:endParaRPr>
          </a:p>
          <a:p>
            <a:pPr indent="0" lvl="0" marL="0" rtl="0" algn="l">
              <a:spcBef>
                <a:spcPts val="0"/>
              </a:spcBef>
              <a:spcAft>
                <a:spcPts val="0"/>
              </a:spcAft>
              <a:buClr>
                <a:schemeClr val="hlink"/>
              </a:buClr>
              <a:buFont typeface="Arial"/>
              <a:buNone/>
            </a:pPr>
            <a:r>
              <a:rPr lang="en-US">
                <a:solidFill>
                  <a:schemeClr val="dk1"/>
                </a:solidFill>
                <a:latin typeface="Inter"/>
                <a:ea typeface="Inter"/>
                <a:cs typeface="Inter"/>
                <a:sym typeface="Inter"/>
              </a:rPr>
              <a:t>2. Compute the Correlation between Sleep and BMI.</a:t>
            </a:r>
            <a:endParaRPr>
              <a:solidFill>
                <a:schemeClr val="hlink"/>
              </a:solidFill>
            </a:endParaRPr>
          </a:p>
          <a:p>
            <a:pPr indent="0" lvl="0" marL="0" marR="0" rtl="0" algn="l">
              <a:lnSpc>
                <a:spcPct val="100000"/>
              </a:lnSpc>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pic>
        <p:nvPicPr>
          <p:cNvPr id="901" name="Google Shape;901;p54"/>
          <p:cNvPicPr preferRelativeResize="0"/>
          <p:nvPr/>
        </p:nvPicPr>
        <p:blipFill rotWithShape="1">
          <a:blip r:embed="rId3">
            <a:alphaModFix/>
          </a:blip>
          <a:srcRect b="0" l="0" r="0" t="18441"/>
          <a:stretch/>
        </p:blipFill>
        <p:spPr>
          <a:xfrm>
            <a:off x="2180565" y="1600200"/>
            <a:ext cx="5273699" cy="2729864"/>
          </a:xfrm>
          <a:prstGeom prst="rect">
            <a:avLst/>
          </a:prstGeom>
          <a:noFill/>
          <a:ln>
            <a:noFill/>
          </a:ln>
        </p:spPr>
      </p:pic>
      <p:pic>
        <p:nvPicPr>
          <p:cNvPr id="902" name="Google Shape;902;p54"/>
          <p:cNvPicPr preferRelativeResize="0"/>
          <p:nvPr/>
        </p:nvPicPr>
        <p:blipFill rotWithShape="1">
          <a:blip r:embed="rId4">
            <a:alphaModFix/>
          </a:blip>
          <a:srcRect b="0" l="0" r="0" t="0"/>
          <a:stretch/>
        </p:blipFill>
        <p:spPr>
          <a:xfrm>
            <a:off x="2228849" y="4310425"/>
            <a:ext cx="5172075" cy="706029"/>
          </a:xfrm>
          <a:prstGeom prst="rect">
            <a:avLst/>
          </a:prstGeom>
          <a:noFill/>
          <a:ln>
            <a:noFill/>
          </a:ln>
        </p:spPr>
      </p:pic>
      <p:sp>
        <p:nvSpPr>
          <p:cNvPr id="903" name="Google Shape;903;p54"/>
          <p:cNvSpPr/>
          <p:nvPr/>
        </p:nvSpPr>
        <p:spPr>
          <a:xfrm>
            <a:off x="1581066" y="1137702"/>
            <a:ext cx="337784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Calculate the Mean for Each Variable.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909" name="Google Shape;909;p55"/>
          <p:cNvSpPr/>
          <p:nvPr/>
        </p:nvSpPr>
        <p:spPr>
          <a:xfrm>
            <a:off x="1131570" y="1018550"/>
            <a:ext cx="6000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1. Compute the Covariance between Water Intake and BMI.</a:t>
            </a:r>
            <a:endParaRPr/>
          </a:p>
        </p:txBody>
      </p:sp>
      <p:pic>
        <p:nvPicPr>
          <p:cNvPr id="910" name="Google Shape;910;p55"/>
          <p:cNvPicPr preferRelativeResize="0"/>
          <p:nvPr/>
        </p:nvPicPr>
        <p:blipFill rotWithShape="1">
          <a:blip r:embed="rId3">
            <a:alphaModFix/>
          </a:blip>
          <a:srcRect b="0" l="0" r="0" t="19441"/>
          <a:stretch/>
        </p:blipFill>
        <p:spPr>
          <a:xfrm>
            <a:off x="1201102" y="1485900"/>
            <a:ext cx="6924675" cy="123539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916" name="Google Shape;916;p56"/>
          <p:cNvSpPr/>
          <p:nvPr/>
        </p:nvSpPr>
        <p:spPr>
          <a:xfrm>
            <a:off x="1131570" y="1018550"/>
            <a:ext cx="6000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1. Compute the Covariance between Water Intake and BMI.</a:t>
            </a:r>
            <a:endParaRPr/>
          </a:p>
        </p:txBody>
      </p:sp>
      <p:pic>
        <p:nvPicPr>
          <p:cNvPr id="917" name="Google Shape;917;p56"/>
          <p:cNvPicPr preferRelativeResize="0"/>
          <p:nvPr/>
        </p:nvPicPr>
        <p:blipFill rotWithShape="1">
          <a:blip r:embed="rId3">
            <a:alphaModFix/>
          </a:blip>
          <a:srcRect b="0" l="0" r="0" t="0"/>
          <a:stretch/>
        </p:blipFill>
        <p:spPr>
          <a:xfrm>
            <a:off x="411480" y="1725930"/>
            <a:ext cx="8610600" cy="1714500"/>
          </a:xfrm>
          <a:prstGeom prst="rect">
            <a:avLst/>
          </a:prstGeom>
          <a:noFill/>
          <a:ln>
            <a:noFill/>
          </a:ln>
        </p:spPr>
      </p:pic>
      <p:sp>
        <p:nvSpPr>
          <p:cNvPr id="918" name="Google Shape;918;p56"/>
          <p:cNvSpPr/>
          <p:nvPr/>
        </p:nvSpPr>
        <p:spPr>
          <a:xfrm>
            <a:off x="1245870" y="3665458"/>
            <a:ext cx="4572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a:t>
            </a:r>
            <a:br>
              <a:rPr b="0" i="0" lang="en-US" sz="1400" u="none" cap="none" strike="noStrike">
                <a:solidFill>
                  <a:schemeClr val="dk1"/>
                </a:solidFill>
                <a:latin typeface="Inter"/>
                <a:ea typeface="Inter"/>
                <a:cs typeface="Inter"/>
                <a:sym typeface="Inter"/>
              </a:rPr>
            </a:br>
            <a:r>
              <a:rPr b="0" i="0" lang="en-US" sz="1400" u="none" cap="none" strike="noStrike">
                <a:solidFill>
                  <a:schemeClr val="dk1"/>
                </a:solidFill>
                <a:latin typeface="Inter"/>
                <a:ea typeface="Inter"/>
                <a:cs typeface="Inter"/>
                <a:sym typeface="Inter"/>
              </a:rPr>
              <a:t>Since the covariance is negative, it suggests that as water intake increases, BMI tends to decrease.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5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924" name="Google Shape;924;p57"/>
          <p:cNvSpPr/>
          <p:nvPr/>
        </p:nvSpPr>
        <p:spPr>
          <a:xfrm>
            <a:off x="1131570" y="1018550"/>
            <a:ext cx="6000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2. Compute the Correlation between Sleep and BMI.</a:t>
            </a:r>
            <a:endParaRPr/>
          </a:p>
        </p:txBody>
      </p:sp>
      <p:pic>
        <p:nvPicPr>
          <p:cNvPr id="925" name="Google Shape;925;p57"/>
          <p:cNvPicPr preferRelativeResize="0"/>
          <p:nvPr/>
        </p:nvPicPr>
        <p:blipFill rotWithShape="1">
          <a:blip r:embed="rId3">
            <a:alphaModFix/>
          </a:blip>
          <a:srcRect b="0" l="0" r="0" t="0"/>
          <a:stretch/>
        </p:blipFill>
        <p:spPr>
          <a:xfrm>
            <a:off x="1894522" y="1724977"/>
            <a:ext cx="4714875" cy="9620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5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931" name="Google Shape;931;p58"/>
          <p:cNvSpPr/>
          <p:nvPr/>
        </p:nvSpPr>
        <p:spPr>
          <a:xfrm>
            <a:off x="1131570" y="1018550"/>
            <a:ext cx="6000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2. Compute the Correlation between Sleep and BMI.</a:t>
            </a:r>
            <a:endParaRPr/>
          </a:p>
        </p:txBody>
      </p:sp>
      <p:sp>
        <p:nvSpPr>
          <p:cNvPr id="932" name="Google Shape;932;p58"/>
          <p:cNvSpPr/>
          <p:nvPr/>
        </p:nvSpPr>
        <p:spPr>
          <a:xfrm>
            <a:off x="1805940" y="1418600"/>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Compute the Mean of Sleep and BMI</a:t>
            </a:r>
            <a:endParaRPr b="0" i="0" sz="1400" u="none" cap="none" strike="noStrike">
              <a:solidFill>
                <a:schemeClr val="dk1"/>
              </a:solidFill>
              <a:latin typeface="Inter"/>
              <a:ea typeface="Inter"/>
              <a:cs typeface="Inter"/>
              <a:sym typeface="Inter"/>
            </a:endParaRPr>
          </a:p>
        </p:txBody>
      </p:sp>
      <p:pic>
        <p:nvPicPr>
          <p:cNvPr id="933" name="Google Shape;933;p58"/>
          <p:cNvPicPr preferRelativeResize="0"/>
          <p:nvPr/>
        </p:nvPicPr>
        <p:blipFill rotWithShape="1">
          <a:blip r:embed="rId3">
            <a:alphaModFix/>
          </a:blip>
          <a:srcRect b="0" l="0" r="0" t="0"/>
          <a:stretch/>
        </p:blipFill>
        <p:spPr>
          <a:xfrm>
            <a:off x="1998345" y="1816417"/>
            <a:ext cx="5238750" cy="29051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5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939" name="Google Shape;939;p59"/>
          <p:cNvSpPr/>
          <p:nvPr/>
        </p:nvSpPr>
        <p:spPr>
          <a:xfrm>
            <a:off x="1131570" y="1018550"/>
            <a:ext cx="6000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3. Compute the Correlation between Sleep and BMI.</a:t>
            </a:r>
            <a:endParaRPr/>
          </a:p>
        </p:txBody>
      </p:sp>
      <p:sp>
        <p:nvSpPr>
          <p:cNvPr id="940" name="Google Shape;940;p59"/>
          <p:cNvSpPr/>
          <p:nvPr/>
        </p:nvSpPr>
        <p:spPr>
          <a:xfrm>
            <a:off x="1338595" y="1297722"/>
            <a:ext cx="40463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Compute Covariance Between Sleep and BMI</a:t>
            </a:r>
            <a:endParaRPr/>
          </a:p>
        </p:txBody>
      </p:sp>
      <p:pic>
        <p:nvPicPr>
          <p:cNvPr id="941" name="Google Shape;941;p59"/>
          <p:cNvPicPr preferRelativeResize="0"/>
          <p:nvPr/>
        </p:nvPicPr>
        <p:blipFill rotWithShape="1">
          <a:blip r:embed="rId3">
            <a:alphaModFix/>
          </a:blip>
          <a:srcRect b="0" l="0" r="0" t="0"/>
          <a:stretch/>
        </p:blipFill>
        <p:spPr>
          <a:xfrm>
            <a:off x="1148715" y="1567815"/>
            <a:ext cx="7143750" cy="33337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6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947" name="Google Shape;947;p60"/>
          <p:cNvSpPr/>
          <p:nvPr/>
        </p:nvSpPr>
        <p:spPr>
          <a:xfrm>
            <a:off x="1131570" y="1018550"/>
            <a:ext cx="6000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2. Compute the Correlation between Sleep and BMI.</a:t>
            </a:r>
            <a:endParaRPr/>
          </a:p>
        </p:txBody>
      </p:sp>
      <p:sp>
        <p:nvSpPr>
          <p:cNvPr id="948" name="Google Shape;948;p60"/>
          <p:cNvSpPr/>
          <p:nvPr/>
        </p:nvSpPr>
        <p:spPr>
          <a:xfrm>
            <a:off x="1330410" y="1286292"/>
            <a:ext cx="304442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Compute the Standard Deviations</a:t>
            </a:r>
            <a:endParaRPr/>
          </a:p>
        </p:txBody>
      </p:sp>
      <p:pic>
        <p:nvPicPr>
          <p:cNvPr id="949" name="Google Shape;949;p60"/>
          <p:cNvPicPr preferRelativeResize="0"/>
          <p:nvPr/>
        </p:nvPicPr>
        <p:blipFill rotWithShape="1">
          <a:blip r:embed="rId3">
            <a:alphaModFix/>
          </a:blip>
          <a:srcRect b="0" l="0" r="0" t="0"/>
          <a:stretch/>
        </p:blipFill>
        <p:spPr>
          <a:xfrm>
            <a:off x="1435417" y="1760220"/>
            <a:ext cx="6524625" cy="21717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6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955" name="Google Shape;955;p61"/>
          <p:cNvSpPr/>
          <p:nvPr/>
        </p:nvSpPr>
        <p:spPr>
          <a:xfrm>
            <a:off x="1131570" y="1018550"/>
            <a:ext cx="6000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2. Compute the Correlation between Sleep and BMI.</a:t>
            </a:r>
            <a:endParaRPr/>
          </a:p>
        </p:txBody>
      </p:sp>
      <p:sp>
        <p:nvSpPr>
          <p:cNvPr id="956" name="Google Shape;956;p61"/>
          <p:cNvSpPr/>
          <p:nvPr/>
        </p:nvSpPr>
        <p:spPr>
          <a:xfrm>
            <a:off x="1330410" y="1286292"/>
            <a:ext cx="304442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Compute the Standard Deviations</a:t>
            </a:r>
            <a:endParaRPr/>
          </a:p>
        </p:txBody>
      </p:sp>
      <p:pic>
        <p:nvPicPr>
          <p:cNvPr id="957" name="Google Shape;957;p61"/>
          <p:cNvPicPr preferRelativeResize="0"/>
          <p:nvPr/>
        </p:nvPicPr>
        <p:blipFill rotWithShape="1">
          <a:blip r:embed="rId3">
            <a:alphaModFix/>
          </a:blip>
          <a:srcRect b="0" l="0" r="0" t="0"/>
          <a:stretch/>
        </p:blipFill>
        <p:spPr>
          <a:xfrm>
            <a:off x="1619250" y="1821180"/>
            <a:ext cx="6134100" cy="22098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6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4</a:t>
            </a:r>
            <a:endParaRPr/>
          </a:p>
        </p:txBody>
      </p:sp>
      <p:sp>
        <p:nvSpPr>
          <p:cNvPr id="963" name="Google Shape;963;p62"/>
          <p:cNvSpPr/>
          <p:nvPr/>
        </p:nvSpPr>
        <p:spPr>
          <a:xfrm>
            <a:off x="1280160" y="1109990"/>
            <a:ext cx="6000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2. Compute the Correlation between Sleep and BMI.</a:t>
            </a:r>
            <a:endParaRPr/>
          </a:p>
        </p:txBody>
      </p:sp>
      <p:pic>
        <p:nvPicPr>
          <p:cNvPr id="964" name="Google Shape;964;p62"/>
          <p:cNvPicPr preferRelativeResize="0"/>
          <p:nvPr/>
        </p:nvPicPr>
        <p:blipFill rotWithShape="1">
          <a:blip r:embed="rId3">
            <a:alphaModFix/>
          </a:blip>
          <a:srcRect b="0" l="0" r="0" t="0"/>
          <a:stretch/>
        </p:blipFill>
        <p:spPr>
          <a:xfrm>
            <a:off x="3657600" y="1643062"/>
            <a:ext cx="1828800" cy="1857375"/>
          </a:xfrm>
          <a:prstGeom prst="rect">
            <a:avLst/>
          </a:prstGeom>
          <a:noFill/>
          <a:ln>
            <a:noFill/>
          </a:ln>
        </p:spPr>
      </p:pic>
      <p:sp>
        <p:nvSpPr>
          <p:cNvPr id="965" name="Google Shape;965;p62"/>
          <p:cNvSpPr/>
          <p:nvPr/>
        </p:nvSpPr>
        <p:spPr>
          <a:xfrm>
            <a:off x="1621361" y="3503712"/>
            <a:ext cx="689399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Interpretation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moderate negative correlation between Sleep and BMI.</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This suggests that as sleep duration increases, BMI tends to decrease.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Since 𝑟 is closer to -1 than 0, the relationship is moderately strong.</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63"/>
          <p:cNvSpPr txBox="1"/>
          <p:nvPr>
            <p:ph type="title"/>
          </p:nvPr>
        </p:nvSpPr>
        <p:spPr>
          <a:xfrm>
            <a:off x="3151900" y="1636350"/>
            <a:ext cx="4150500" cy="1302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Multivariate Graphical EDA</a:t>
            </a:r>
            <a:endParaRPr/>
          </a:p>
        </p:txBody>
      </p:sp>
      <p:sp>
        <p:nvSpPr>
          <p:cNvPr id="971" name="Google Shape;971;p63"/>
          <p:cNvSpPr txBox="1"/>
          <p:nvPr>
            <p:ph idx="2" type="title"/>
          </p:nvPr>
        </p:nvSpPr>
        <p:spPr>
          <a:xfrm>
            <a:off x="1475300" y="1690000"/>
            <a:ext cx="1294500" cy="908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US"/>
              <a:t>04.</a:t>
            </a:r>
            <a:endParaRPr/>
          </a:p>
        </p:txBody>
      </p:sp>
      <p:grpSp>
        <p:nvGrpSpPr>
          <p:cNvPr id="972" name="Google Shape;972;p63"/>
          <p:cNvGrpSpPr/>
          <p:nvPr/>
        </p:nvGrpSpPr>
        <p:grpSpPr>
          <a:xfrm>
            <a:off x="7783346" y="490666"/>
            <a:ext cx="901968" cy="901968"/>
            <a:chOff x="1350404" y="-3124999"/>
            <a:chExt cx="1570279" cy="1570279"/>
          </a:xfrm>
        </p:grpSpPr>
        <p:sp>
          <p:nvSpPr>
            <p:cNvPr id="973" name="Google Shape;973;p63"/>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4" name="Google Shape;974;p63"/>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5" name="Google Shape;975;p63"/>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6" name="Google Shape;976;p63"/>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77" name="Google Shape;977;p63"/>
          <p:cNvGrpSpPr/>
          <p:nvPr/>
        </p:nvGrpSpPr>
        <p:grpSpPr>
          <a:xfrm>
            <a:off x="713029" y="3447254"/>
            <a:ext cx="1266652" cy="1056012"/>
            <a:chOff x="5378191" y="1701500"/>
            <a:chExt cx="611171" cy="509535"/>
          </a:xfrm>
        </p:grpSpPr>
        <p:sp>
          <p:nvSpPr>
            <p:cNvPr id="978" name="Google Shape;978;p63"/>
            <p:cNvSpPr/>
            <p:nvPr/>
          </p:nvSpPr>
          <p:spPr>
            <a:xfrm>
              <a:off x="5378191" y="1701500"/>
              <a:ext cx="611171" cy="509535"/>
            </a:xfrm>
            <a:custGeom>
              <a:rect b="b" l="l" r="r" t="t"/>
              <a:pathLst>
                <a:path extrusionOk="0" h="1056032" w="1266676">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9" name="Google Shape;979;p63"/>
            <p:cNvSpPr/>
            <p:nvPr/>
          </p:nvSpPr>
          <p:spPr>
            <a:xfrm>
              <a:off x="5497928" y="1776815"/>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0" name="Google Shape;980;p63"/>
            <p:cNvSpPr/>
            <p:nvPr/>
          </p:nvSpPr>
          <p:spPr>
            <a:xfrm>
              <a:off x="5608451" y="1776815"/>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1" name="Google Shape;981;p63"/>
            <p:cNvSpPr/>
            <p:nvPr/>
          </p:nvSpPr>
          <p:spPr>
            <a:xfrm>
              <a:off x="5719011" y="1776815"/>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2" name="Google Shape;982;p63"/>
            <p:cNvSpPr/>
            <p:nvPr/>
          </p:nvSpPr>
          <p:spPr>
            <a:xfrm>
              <a:off x="5829571" y="1776815"/>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3" name="Google Shape;983;p63"/>
            <p:cNvSpPr/>
            <p:nvPr/>
          </p:nvSpPr>
          <p:spPr>
            <a:xfrm>
              <a:off x="5497928" y="1882549"/>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4" name="Google Shape;984;p63"/>
            <p:cNvSpPr/>
            <p:nvPr/>
          </p:nvSpPr>
          <p:spPr>
            <a:xfrm>
              <a:off x="5608451" y="1882549"/>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5" name="Google Shape;985;p63"/>
            <p:cNvSpPr/>
            <p:nvPr/>
          </p:nvSpPr>
          <p:spPr>
            <a:xfrm>
              <a:off x="5719011" y="1882549"/>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6" name="Google Shape;986;p63"/>
            <p:cNvSpPr/>
            <p:nvPr/>
          </p:nvSpPr>
          <p:spPr>
            <a:xfrm>
              <a:off x="5829571" y="1882549"/>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7" name="Google Shape;987;p63"/>
            <p:cNvSpPr/>
            <p:nvPr/>
          </p:nvSpPr>
          <p:spPr>
            <a:xfrm>
              <a:off x="5497928" y="1988320"/>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8" name="Google Shape;988;p63"/>
            <p:cNvSpPr/>
            <p:nvPr/>
          </p:nvSpPr>
          <p:spPr>
            <a:xfrm>
              <a:off x="5608451" y="1988320"/>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9" name="Google Shape;989;p63"/>
            <p:cNvSpPr/>
            <p:nvPr/>
          </p:nvSpPr>
          <p:spPr>
            <a:xfrm>
              <a:off x="5719011" y="198832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0" name="Google Shape;990;p63"/>
            <p:cNvSpPr/>
            <p:nvPr/>
          </p:nvSpPr>
          <p:spPr>
            <a:xfrm>
              <a:off x="5829571" y="198832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1" name="Google Shape;991;p63"/>
            <p:cNvSpPr/>
            <p:nvPr/>
          </p:nvSpPr>
          <p:spPr>
            <a:xfrm>
              <a:off x="5497928" y="2094090"/>
              <a:ext cx="34526" cy="34526"/>
            </a:xfrm>
            <a:custGeom>
              <a:rect b="b" l="l" r="r" t="t"/>
              <a:pathLst>
                <a:path extrusionOk="0" h="71556" w="71556">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2" name="Google Shape;992;p63"/>
            <p:cNvSpPr/>
            <p:nvPr/>
          </p:nvSpPr>
          <p:spPr>
            <a:xfrm>
              <a:off x="5608451" y="2094090"/>
              <a:ext cx="34526" cy="34526"/>
            </a:xfrm>
            <a:custGeom>
              <a:rect b="b" l="l" r="r" t="t"/>
              <a:pathLst>
                <a:path extrusionOk="0" h="71556" w="71557">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3" name="Google Shape;993;p63"/>
            <p:cNvSpPr/>
            <p:nvPr/>
          </p:nvSpPr>
          <p:spPr>
            <a:xfrm>
              <a:off x="5719011" y="209409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4" name="Google Shape;994;p63"/>
            <p:cNvSpPr/>
            <p:nvPr/>
          </p:nvSpPr>
          <p:spPr>
            <a:xfrm>
              <a:off x="5829571" y="2094090"/>
              <a:ext cx="34526" cy="34526"/>
            </a:xfrm>
            <a:custGeom>
              <a:rect b="b" l="l" r="r" t="t"/>
              <a:pathLst>
                <a:path extrusionOk="0" h="71556" w="71557">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995" name="Google Shape;995;p63"/>
          <p:cNvSpPr/>
          <p:nvPr/>
        </p:nvSpPr>
        <p:spPr>
          <a:xfrm>
            <a:off x="2060027" y="3287602"/>
            <a:ext cx="547063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essential for visualizing relationships among multiple variables.</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6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Side-by-side boxplots</a:t>
            </a:r>
            <a:endParaRPr/>
          </a:p>
        </p:txBody>
      </p:sp>
      <p:sp>
        <p:nvSpPr>
          <p:cNvPr id="1001" name="Google Shape;1001;p64"/>
          <p:cNvSpPr/>
          <p:nvPr/>
        </p:nvSpPr>
        <p:spPr>
          <a:xfrm>
            <a:off x="1259632" y="1253892"/>
            <a:ext cx="3678128"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for examining the relationship between a categorical variable and a quantitative variable, as well as the distribution of the quantitative variable at each level of the categorical variable</a:t>
            </a:r>
            <a:endParaRPr/>
          </a:p>
        </p:txBody>
      </p:sp>
      <p:pic>
        <p:nvPicPr>
          <p:cNvPr id="1002" name="Google Shape;1002;p64"/>
          <p:cNvPicPr preferRelativeResize="0"/>
          <p:nvPr/>
        </p:nvPicPr>
        <p:blipFill rotWithShape="1">
          <a:blip r:embed="rId3">
            <a:alphaModFix/>
          </a:blip>
          <a:srcRect b="0" l="0" r="0" t="0"/>
          <a:stretch/>
        </p:blipFill>
        <p:spPr>
          <a:xfrm>
            <a:off x="5488305" y="1185862"/>
            <a:ext cx="2762250" cy="28860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6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Scatter plots</a:t>
            </a:r>
            <a:endParaRPr/>
          </a:p>
        </p:txBody>
      </p:sp>
      <p:sp>
        <p:nvSpPr>
          <p:cNvPr id="1008" name="Google Shape;1008;p65"/>
          <p:cNvSpPr/>
          <p:nvPr/>
        </p:nvSpPr>
        <p:spPr>
          <a:xfrm>
            <a:off x="1373932" y="1207026"/>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graphical representations that display the relationship between two quantitative variables</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6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Scatter plots</a:t>
            </a:r>
            <a:endParaRPr/>
          </a:p>
        </p:txBody>
      </p:sp>
      <p:pic>
        <p:nvPicPr>
          <p:cNvPr id="1014" name="Google Shape;1014;p66"/>
          <p:cNvPicPr preferRelativeResize="0"/>
          <p:nvPr/>
        </p:nvPicPr>
        <p:blipFill rotWithShape="1">
          <a:blip r:embed="rId3">
            <a:alphaModFix/>
          </a:blip>
          <a:srcRect b="0" l="0" r="66904" t="0"/>
          <a:stretch/>
        </p:blipFill>
        <p:spPr>
          <a:xfrm>
            <a:off x="5412105" y="1120140"/>
            <a:ext cx="3366948" cy="2630805"/>
          </a:xfrm>
          <a:prstGeom prst="rect">
            <a:avLst/>
          </a:prstGeom>
          <a:noFill/>
          <a:ln>
            <a:noFill/>
          </a:ln>
        </p:spPr>
      </p:pic>
      <p:sp>
        <p:nvSpPr>
          <p:cNvPr id="1015" name="Google Shape;1015;p66"/>
          <p:cNvSpPr/>
          <p:nvPr/>
        </p:nvSpPr>
        <p:spPr>
          <a:xfrm>
            <a:off x="765810" y="1513493"/>
            <a:ext cx="457200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1. Positive Linear Correlation</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Pattern</a:t>
            </a:r>
            <a:r>
              <a:rPr b="0" i="0" lang="en-US" sz="1400" u="none" cap="none" strike="noStrike">
                <a:solidFill>
                  <a:schemeClr val="dk1"/>
                </a:solidFill>
                <a:latin typeface="Inter"/>
                <a:ea typeface="Inter"/>
                <a:cs typeface="Inter"/>
                <a:sym typeface="Inter"/>
              </a:rPr>
              <a:t>: Data points form an upward sloping trend.</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 As one variable increases, the other also increases.</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More study hours → Higher exam scores.</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6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Scatter plots</a:t>
            </a:r>
            <a:endParaRPr/>
          </a:p>
        </p:txBody>
      </p:sp>
      <p:pic>
        <p:nvPicPr>
          <p:cNvPr id="1021" name="Google Shape;1021;p67"/>
          <p:cNvPicPr preferRelativeResize="0"/>
          <p:nvPr/>
        </p:nvPicPr>
        <p:blipFill rotWithShape="1">
          <a:blip r:embed="rId3">
            <a:alphaModFix/>
          </a:blip>
          <a:srcRect b="0" l="32527" r="33594" t="0"/>
          <a:stretch/>
        </p:blipFill>
        <p:spPr>
          <a:xfrm>
            <a:off x="5474970" y="1190721"/>
            <a:ext cx="3429000" cy="2617374"/>
          </a:xfrm>
          <a:prstGeom prst="rect">
            <a:avLst/>
          </a:prstGeom>
          <a:noFill/>
          <a:ln>
            <a:noFill/>
          </a:ln>
        </p:spPr>
      </p:pic>
      <p:sp>
        <p:nvSpPr>
          <p:cNvPr id="1022" name="Google Shape;1022;p67"/>
          <p:cNvSpPr/>
          <p:nvPr/>
        </p:nvSpPr>
        <p:spPr>
          <a:xfrm>
            <a:off x="914400" y="1399193"/>
            <a:ext cx="4572000"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2. Negative Linear Correlation</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Pattern</a:t>
            </a:r>
            <a:r>
              <a:rPr b="0" i="0" lang="en-US" sz="1400" u="none" cap="none" strike="noStrike">
                <a:solidFill>
                  <a:schemeClr val="dk1"/>
                </a:solidFill>
                <a:latin typeface="Inter"/>
                <a:ea typeface="Inter"/>
                <a:cs typeface="Inter"/>
                <a:sym typeface="Inter"/>
              </a:rPr>
              <a:t>: Data points form a downward sloping trend.</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 As one variable increases, the other decreases.</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More exercise → Lower blood pressure.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6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Scatter plots</a:t>
            </a:r>
            <a:endParaRPr/>
          </a:p>
        </p:txBody>
      </p:sp>
      <p:pic>
        <p:nvPicPr>
          <p:cNvPr id="1028" name="Google Shape;1028;p68"/>
          <p:cNvPicPr preferRelativeResize="0"/>
          <p:nvPr/>
        </p:nvPicPr>
        <p:blipFill rotWithShape="1">
          <a:blip r:embed="rId3">
            <a:alphaModFix/>
          </a:blip>
          <a:srcRect b="0" l="67544" r="0" t="0"/>
          <a:stretch/>
        </p:blipFill>
        <p:spPr>
          <a:xfrm>
            <a:off x="5207403" y="1125854"/>
            <a:ext cx="3650847" cy="2908935"/>
          </a:xfrm>
          <a:prstGeom prst="rect">
            <a:avLst/>
          </a:prstGeom>
          <a:noFill/>
          <a:ln>
            <a:noFill/>
          </a:ln>
        </p:spPr>
      </p:pic>
      <p:sp>
        <p:nvSpPr>
          <p:cNvPr id="1029" name="Google Shape;1029;p68"/>
          <p:cNvSpPr/>
          <p:nvPr/>
        </p:nvSpPr>
        <p:spPr>
          <a:xfrm>
            <a:off x="822960" y="1490633"/>
            <a:ext cx="457200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3. No Correlation</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Pattern</a:t>
            </a:r>
            <a:r>
              <a:rPr b="0" i="0" lang="en-US" sz="1400" u="none" cap="none" strike="noStrike">
                <a:solidFill>
                  <a:schemeClr val="dk1"/>
                </a:solidFill>
                <a:latin typeface="Inter"/>
                <a:ea typeface="Inter"/>
                <a:cs typeface="Inter"/>
                <a:sym typeface="Inter"/>
              </a:rPr>
              <a:t>: Data points are randomly scattered.</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 No visible relationship between the variables.</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Shoe size vs. intelligence.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6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Scatter plots</a:t>
            </a:r>
            <a:endParaRPr/>
          </a:p>
        </p:txBody>
      </p:sp>
      <p:pic>
        <p:nvPicPr>
          <p:cNvPr id="1035" name="Google Shape;1035;p69"/>
          <p:cNvPicPr preferRelativeResize="0"/>
          <p:nvPr/>
        </p:nvPicPr>
        <p:blipFill rotWithShape="1">
          <a:blip r:embed="rId3">
            <a:alphaModFix/>
          </a:blip>
          <a:srcRect b="0" l="0" r="68242" t="0"/>
          <a:stretch/>
        </p:blipFill>
        <p:spPr>
          <a:xfrm>
            <a:off x="5579746" y="1298351"/>
            <a:ext cx="3415664" cy="2578324"/>
          </a:xfrm>
          <a:prstGeom prst="rect">
            <a:avLst/>
          </a:prstGeom>
          <a:noFill/>
          <a:ln>
            <a:noFill/>
          </a:ln>
        </p:spPr>
      </p:pic>
      <p:sp>
        <p:nvSpPr>
          <p:cNvPr id="1036" name="Google Shape;1036;p69"/>
          <p:cNvSpPr/>
          <p:nvPr/>
        </p:nvSpPr>
        <p:spPr>
          <a:xfrm>
            <a:off x="777240" y="1382911"/>
            <a:ext cx="45720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4. Curvilinear (U-Shaped) Relationship</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Pattern</a:t>
            </a:r>
            <a:r>
              <a:rPr b="0" i="0" lang="en-US" sz="1400" u="none" cap="none" strike="noStrike">
                <a:solidFill>
                  <a:schemeClr val="dk1"/>
                </a:solidFill>
                <a:latin typeface="Inter"/>
                <a:ea typeface="Inter"/>
                <a:cs typeface="Inter"/>
                <a:sym typeface="Inter"/>
              </a:rPr>
              <a:t>: Data follows a curve (e.g., U-shape or inverted U-shape).</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 The relationship changes direction at a certain point.</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Stress vs. Performance (moderate stress improves performance, but excessive stress reduces it).</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7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Scatter plots</a:t>
            </a:r>
            <a:endParaRPr/>
          </a:p>
        </p:txBody>
      </p:sp>
      <p:pic>
        <p:nvPicPr>
          <p:cNvPr id="1042" name="Google Shape;1042;p70"/>
          <p:cNvPicPr preferRelativeResize="0"/>
          <p:nvPr/>
        </p:nvPicPr>
        <p:blipFill rotWithShape="1">
          <a:blip r:embed="rId3">
            <a:alphaModFix/>
          </a:blip>
          <a:srcRect b="0" l="33128" r="34406" t="0"/>
          <a:stretch/>
        </p:blipFill>
        <p:spPr>
          <a:xfrm>
            <a:off x="5326379" y="1303020"/>
            <a:ext cx="3454505" cy="2550795"/>
          </a:xfrm>
          <a:prstGeom prst="rect">
            <a:avLst/>
          </a:prstGeom>
          <a:noFill/>
          <a:ln>
            <a:noFill/>
          </a:ln>
        </p:spPr>
      </p:pic>
      <p:sp>
        <p:nvSpPr>
          <p:cNvPr id="1043" name="Google Shape;1043;p70"/>
          <p:cNvSpPr/>
          <p:nvPr/>
        </p:nvSpPr>
        <p:spPr>
          <a:xfrm>
            <a:off x="960120" y="1266885"/>
            <a:ext cx="457200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5. Clustering in Groups</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Pattern</a:t>
            </a:r>
            <a:r>
              <a:rPr b="0" i="0" lang="en-US" sz="1400" u="none" cap="none" strike="noStrike">
                <a:solidFill>
                  <a:schemeClr val="dk1"/>
                </a:solidFill>
                <a:latin typeface="Inter"/>
                <a:ea typeface="Inter"/>
                <a:cs typeface="Inter"/>
                <a:sym typeface="Inter"/>
              </a:rPr>
              <a:t>: Data points form distinct clusters.</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 Indicates sub-groups within the data.</a:t>
            </a:r>
            <a:br>
              <a:rPr b="0" i="0" lang="en-US" sz="1400" u="none" cap="none" strike="noStrike">
                <a:solidFill>
                  <a:schemeClr val="dk1"/>
                </a:solidFill>
                <a:latin typeface="Inter"/>
                <a:ea typeface="Inter"/>
                <a:cs typeface="Inter"/>
                <a:sym typeface="Inter"/>
              </a:rPr>
            </a:b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Customer segmentation in marketing (e.g., budget vs. premium buyers).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7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Scatter plots</a:t>
            </a:r>
            <a:endParaRPr/>
          </a:p>
        </p:txBody>
      </p:sp>
      <p:pic>
        <p:nvPicPr>
          <p:cNvPr id="1049" name="Google Shape;1049;p71"/>
          <p:cNvPicPr preferRelativeResize="0"/>
          <p:nvPr/>
        </p:nvPicPr>
        <p:blipFill rotWithShape="1">
          <a:blip r:embed="rId3">
            <a:alphaModFix/>
          </a:blip>
          <a:srcRect b="0" l="65868" r="0" t="0"/>
          <a:stretch/>
        </p:blipFill>
        <p:spPr>
          <a:xfrm>
            <a:off x="5335242" y="1362074"/>
            <a:ext cx="3707794" cy="2604135"/>
          </a:xfrm>
          <a:prstGeom prst="rect">
            <a:avLst/>
          </a:prstGeom>
          <a:noFill/>
          <a:ln>
            <a:noFill/>
          </a:ln>
        </p:spPr>
      </p:pic>
      <p:sp>
        <p:nvSpPr>
          <p:cNvPr id="1050" name="Google Shape;1050;p71"/>
          <p:cNvSpPr/>
          <p:nvPr/>
        </p:nvSpPr>
        <p:spPr>
          <a:xfrm>
            <a:off x="1051560" y="1325761"/>
            <a:ext cx="4572000"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6. Heteroscedasticity (Fan Shape)</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Pattern</a:t>
            </a:r>
            <a:r>
              <a:rPr b="0" i="0" lang="en-US" sz="1400" u="none" cap="none" strike="noStrike">
                <a:solidFill>
                  <a:schemeClr val="dk1"/>
                </a:solidFill>
                <a:latin typeface="Inter"/>
                <a:ea typeface="Inter"/>
                <a:cs typeface="Inter"/>
                <a:sym typeface="Inter"/>
              </a:rPr>
              <a:t>: Spread of points increases as values increase.</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Interpretation</a:t>
            </a:r>
            <a:r>
              <a:rPr b="0" i="0" lang="en-US" sz="1400" u="none" cap="none" strike="noStrike">
                <a:solidFill>
                  <a:schemeClr val="dk1"/>
                </a:solidFill>
                <a:latin typeface="Inter"/>
                <a:ea typeface="Inter"/>
                <a:cs typeface="Inter"/>
                <a:sym typeface="Inter"/>
              </a:rPr>
              <a:t>: Variance is not constant, which can be problematic in regression.</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1" i="0" lang="en-US" sz="1400" u="none" cap="none" strike="noStrike">
                <a:solidFill>
                  <a:schemeClr val="dk1"/>
                </a:solidFill>
                <a:latin typeface="Inter"/>
                <a:ea typeface="Inter"/>
                <a:cs typeface="Inter"/>
                <a:sym typeface="Inter"/>
              </a:rPr>
              <a:t>Example</a:t>
            </a:r>
            <a:r>
              <a:rPr b="0" i="0" lang="en-US" sz="1400" u="none" cap="none" strike="noStrike">
                <a:solidFill>
                  <a:schemeClr val="dk1"/>
                </a:solidFill>
                <a:latin typeface="Inter"/>
                <a:ea typeface="Inter"/>
                <a:cs typeface="Inter"/>
                <a:sym typeface="Inter"/>
              </a:rPr>
              <a:t>: Income vs. spending behavior—higher incomes show more variation in spending.</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7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5</a:t>
            </a:r>
            <a:endParaRPr/>
          </a:p>
        </p:txBody>
      </p:sp>
      <p:pic>
        <p:nvPicPr>
          <p:cNvPr id="1056" name="Google Shape;1056;p72"/>
          <p:cNvPicPr preferRelativeResize="0"/>
          <p:nvPr/>
        </p:nvPicPr>
        <p:blipFill rotWithShape="1">
          <a:blip r:embed="rId3">
            <a:alphaModFix/>
          </a:blip>
          <a:srcRect b="0" l="0" r="0" t="0"/>
          <a:stretch/>
        </p:blipFill>
        <p:spPr>
          <a:xfrm>
            <a:off x="4274820" y="1414462"/>
            <a:ext cx="4343400" cy="3114675"/>
          </a:xfrm>
          <a:prstGeom prst="rect">
            <a:avLst/>
          </a:prstGeom>
          <a:noFill/>
          <a:ln>
            <a:noFill/>
          </a:ln>
        </p:spPr>
      </p:pic>
      <p:sp>
        <p:nvSpPr>
          <p:cNvPr id="1057" name="Google Shape;1057;p72"/>
          <p:cNvSpPr/>
          <p:nvPr/>
        </p:nvSpPr>
        <p:spPr>
          <a:xfrm>
            <a:off x="4766310" y="1508760"/>
            <a:ext cx="880110" cy="40005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8" name="Google Shape;1058;p72"/>
          <p:cNvSpPr/>
          <p:nvPr/>
        </p:nvSpPr>
        <p:spPr>
          <a:xfrm>
            <a:off x="320040" y="1379458"/>
            <a:ext cx="410337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A researcher collected data on the number of hours students studied for an exam and their corresponding scores. The scatter plot below displays this data.</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7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5</a:t>
            </a:r>
            <a:endParaRPr/>
          </a:p>
        </p:txBody>
      </p:sp>
      <p:pic>
        <p:nvPicPr>
          <p:cNvPr id="1064" name="Google Shape;1064;p73"/>
          <p:cNvPicPr preferRelativeResize="0"/>
          <p:nvPr/>
        </p:nvPicPr>
        <p:blipFill rotWithShape="1">
          <a:blip r:embed="rId3">
            <a:alphaModFix/>
          </a:blip>
          <a:srcRect b="0" l="0" r="0" t="0"/>
          <a:stretch/>
        </p:blipFill>
        <p:spPr>
          <a:xfrm>
            <a:off x="4274820" y="1414462"/>
            <a:ext cx="4343400" cy="3114675"/>
          </a:xfrm>
          <a:prstGeom prst="rect">
            <a:avLst/>
          </a:prstGeom>
          <a:noFill/>
          <a:ln>
            <a:noFill/>
          </a:ln>
        </p:spPr>
      </p:pic>
      <p:sp>
        <p:nvSpPr>
          <p:cNvPr id="1065" name="Google Shape;1065;p73"/>
          <p:cNvSpPr/>
          <p:nvPr/>
        </p:nvSpPr>
        <p:spPr>
          <a:xfrm>
            <a:off x="4766310" y="1508760"/>
            <a:ext cx="880110" cy="40005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6" name="Google Shape;1066;p73"/>
          <p:cNvSpPr/>
          <p:nvPr/>
        </p:nvSpPr>
        <p:spPr>
          <a:xfrm>
            <a:off x="320040" y="2145268"/>
            <a:ext cx="410337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(a) Identify the pattern in the graph. Does it show a positive, negative, or no correlation?</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pattern in the graph shows a positive correlation. As study hours increase, exam scores tend to increase.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7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5</a:t>
            </a:r>
            <a:endParaRPr/>
          </a:p>
        </p:txBody>
      </p:sp>
      <p:pic>
        <p:nvPicPr>
          <p:cNvPr id="1072" name="Google Shape;1072;p74"/>
          <p:cNvPicPr preferRelativeResize="0"/>
          <p:nvPr/>
        </p:nvPicPr>
        <p:blipFill rotWithShape="1">
          <a:blip r:embed="rId3">
            <a:alphaModFix/>
          </a:blip>
          <a:srcRect b="0" l="0" r="0" t="0"/>
          <a:stretch/>
        </p:blipFill>
        <p:spPr>
          <a:xfrm>
            <a:off x="4274820" y="1414462"/>
            <a:ext cx="4343400" cy="3114675"/>
          </a:xfrm>
          <a:prstGeom prst="rect">
            <a:avLst/>
          </a:prstGeom>
          <a:noFill/>
          <a:ln>
            <a:noFill/>
          </a:ln>
        </p:spPr>
      </p:pic>
      <p:sp>
        <p:nvSpPr>
          <p:cNvPr id="1073" name="Google Shape;1073;p74"/>
          <p:cNvSpPr/>
          <p:nvPr/>
        </p:nvSpPr>
        <p:spPr>
          <a:xfrm>
            <a:off x="4766310" y="1508760"/>
            <a:ext cx="880110" cy="40005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4" name="Google Shape;1074;p74"/>
          <p:cNvSpPr/>
          <p:nvPr/>
        </p:nvSpPr>
        <p:spPr>
          <a:xfrm>
            <a:off x="354330" y="2019538"/>
            <a:ext cx="410337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(b) Based on the trend, estimate the expected score for a student who studied for 7 hours (interpolation).</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a student who studied for 7 hours is expected to score around 75.</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7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5</a:t>
            </a:r>
            <a:endParaRPr/>
          </a:p>
        </p:txBody>
      </p:sp>
      <p:pic>
        <p:nvPicPr>
          <p:cNvPr id="1080" name="Google Shape;1080;p75"/>
          <p:cNvPicPr preferRelativeResize="0"/>
          <p:nvPr/>
        </p:nvPicPr>
        <p:blipFill rotWithShape="1">
          <a:blip r:embed="rId3">
            <a:alphaModFix/>
          </a:blip>
          <a:srcRect b="0" l="0" r="0" t="0"/>
          <a:stretch/>
        </p:blipFill>
        <p:spPr>
          <a:xfrm>
            <a:off x="4274820" y="1414462"/>
            <a:ext cx="4343400" cy="3114675"/>
          </a:xfrm>
          <a:prstGeom prst="rect">
            <a:avLst/>
          </a:prstGeom>
          <a:noFill/>
          <a:ln>
            <a:noFill/>
          </a:ln>
        </p:spPr>
      </p:pic>
      <p:sp>
        <p:nvSpPr>
          <p:cNvPr id="1081" name="Google Shape;1081;p75"/>
          <p:cNvSpPr/>
          <p:nvPr/>
        </p:nvSpPr>
        <p:spPr>
          <a:xfrm>
            <a:off x="4766310" y="1508760"/>
            <a:ext cx="880110" cy="40005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2" name="Google Shape;1082;p75"/>
          <p:cNvSpPr/>
          <p:nvPr/>
        </p:nvSpPr>
        <p:spPr>
          <a:xfrm>
            <a:off x="354330" y="2019538"/>
            <a:ext cx="410337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(c) There is an outlier at (11, 40). How does this outlier affect the relationship between study hours and exam scores?</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outlier at (11, 40) does not follow the trend. It lowers the overall correlation and might skew the regression line if used in a predictive model.</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7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Question 5</a:t>
            </a:r>
            <a:endParaRPr/>
          </a:p>
        </p:txBody>
      </p:sp>
      <p:pic>
        <p:nvPicPr>
          <p:cNvPr id="1088" name="Google Shape;1088;p76"/>
          <p:cNvPicPr preferRelativeResize="0"/>
          <p:nvPr/>
        </p:nvPicPr>
        <p:blipFill rotWithShape="1">
          <a:blip r:embed="rId3">
            <a:alphaModFix/>
          </a:blip>
          <a:srcRect b="0" l="0" r="0" t="0"/>
          <a:stretch/>
        </p:blipFill>
        <p:spPr>
          <a:xfrm>
            <a:off x="4274820" y="1414462"/>
            <a:ext cx="4343400" cy="3114675"/>
          </a:xfrm>
          <a:prstGeom prst="rect">
            <a:avLst/>
          </a:prstGeom>
          <a:noFill/>
          <a:ln>
            <a:noFill/>
          </a:ln>
        </p:spPr>
      </p:pic>
      <p:sp>
        <p:nvSpPr>
          <p:cNvPr id="1089" name="Google Shape;1089;p76"/>
          <p:cNvSpPr/>
          <p:nvPr/>
        </p:nvSpPr>
        <p:spPr>
          <a:xfrm>
            <a:off x="4766310" y="1508760"/>
            <a:ext cx="880110" cy="40005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0" name="Google Shape;1090;p76"/>
          <p:cNvSpPr/>
          <p:nvPr/>
        </p:nvSpPr>
        <p:spPr>
          <a:xfrm>
            <a:off x="354330" y="2019538"/>
            <a:ext cx="410337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(d) What type of trend does the red dashed line represent?</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b="0" i="0" lang="en-US" sz="1400" u="none" cap="none" strike="noStrike">
                <a:solidFill>
                  <a:schemeClr val="dk1"/>
                </a:solidFill>
                <a:latin typeface="Inter"/>
                <a:ea typeface="Inter"/>
                <a:cs typeface="Inter"/>
                <a:sym typeface="Inter"/>
              </a:rPr>
              <a:t>The red dashed line represents a linear trend line, showing the general direction of the data.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ata Analysis and Statistics - 4th grade by Slidesgo">
  <a:themeElements>
    <a:clrScheme name="Simple Light">
      <a:dk1>
        <a:srgbClr val="17175A"/>
      </a:dk1>
      <a:lt1>
        <a:srgbClr val="FFFFFF"/>
      </a:lt1>
      <a:dk2>
        <a:srgbClr val="F6F2CC"/>
      </a:dk2>
      <a:lt2>
        <a:srgbClr val="FCBD0E"/>
      </a:lt2>
      <a:accent1>
        <a:srgbClr val="FA9D02"/>
      </a:accent1>
      <a:accent2>
        <a:srgbClr val="FC81FD"/>
      </a:accent2>
      <a:accent3>
        <a:srgbClr val="7CE1CF"/>
      </a:accent3>
      <a:accent4>
        <a:srgbClr val="6E6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